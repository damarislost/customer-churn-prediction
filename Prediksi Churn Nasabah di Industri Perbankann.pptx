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6"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2733679504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2733679504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n-US" sz="1400">
                <a:solidFill>
                  <a:schemeClr val="dk1"/>
                </a:solidFill>
                <a:latin typeface="Times New Roman"/>
                <a:ea typeface="Times New Roman"/>
                <a:cs typeface="Times New Roman"/>
                <a:sym typeface="Times New Roman"/>
              </a:rPr>
              <a:t>Dalam industri perbankan yang sangat kompetitif saat ini, mempertahankan nasabah menjadi salah satu tantangan terbesar. Kehilangan nasabah atau churn nasabah merupakan fenomena di mana nasabah berhenti menggunakan layanan atau produk yang disediakan oleh bank. Churn nasabah tidak hanya mengurangi pendapatan tetapi juga dapat merusak reputasi bank dan meningkatkan biaya operasional karena biaya akuisisi nasabah baru biasanya lebih tinggi dibandingkan dengan mempertahankan nasabah yang sudah ada.</a:t>
            </a:r>
            <a:endParaRPr sz="1400">
              <a:solidFill>
                <a:schemeClr val="dk1"/>
              </a:solidFill>
              <a:latin typeface="Times New Roman"/>
              <a:ea typeface="Times New Roman"/>
              <a:cs typeface="Times New Roman"/>
              <a:sym typeface="Times New Roman"/>
            </a:endParaRPr>
          </a:p>
          <a:p>
            <a:pPr indent="0" lvl="0" marL="457200" rtl="0" algn="just">
              <a:lnSpc>
                <a:spcPct val="115000"/>
              </a:lnSpc>
              <a:spcBef>
                <a:spcPts val="0"/>
              </a:spcBef>
              <a:spcAft>
                <a:spcPts val="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rPr lang="en-US" sz="1400">
                <a:solidFill>
                  <a:schemeClr val="dk1"/>
                </a:solidFill>
                <a:latin typeface="Times New Roman"/>
                <a:ea typeface="Times New Roman"/>
                <a:cs typeface="Times New Roman"/>
                <a:sym typeface="Times New Roman"/>
              </a:rPr>
              <a:t>Prediksi churn nasabah menjadi krusial karena memungkinkan bank untuk mengambil tindakan proaktif dalam mencegah churn, seperti meningkatkan kualitas layanan, menawarkan insentif khusus, atau memodifikasi produk untuk lebih sesuai dengan kebutuhan nasabah. Prediksi churn yang akurat dapat membantu bank untuk memahami perilaku dan kebutuhan nasabah mereka, sehingga dapat meningkatkan loyalitas dan kepuasan nasabah.</a:t>
            </a:r>
            <a:endParaRPr sz="14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rPr lang="en-US" sz="1400">
                <a:solidFill>
                  <a:srgbClr val="FF0000"/>
                </a:solidFill>
                <a:latin typeface="Times New Roman"/>
                <a:ea typeface="Times New Roman"/>
                <a:cs typeface="Times New Roman"/>
                <a:sym typeface="Times New Roman"/>
              </a:rPr>
              <a:t>Dalam penelitian ini, fokus utama adalah mengembangkan model prediksi churn nasabah dengan menggunakan teknik ensemble learning. Model ini diharapkan mampu memberikan prediksi yang lebih akurat dan dapat diandalkan, yang pada gilirannya dapat membantu bank dalam mengimplementasikan strategi retensi nasabah yang lebih efektif. Melalui analisis yang mendalam, diharapkan dapat diidentifikasi faktor-faktor kunci yang mempengaruhi churn nasabah dan bagaimana bank dapat menanggulangi masalah ini secara efisien.</a:t>
            </a:r>
            <a:endParaRPr sz="1400">
              <a:solidFill>
                <a:srgbClr val="FF0000"/>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70b89e7de3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270b89e7de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71207608a0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71207608a0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e076522d8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e076522d8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7265566a3e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7265566a3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7265566a3e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7265566a3e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7265566a3e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7265566a3e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7265566a3e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7265566a3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7265566a3e_0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7265566a3e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7265566a3e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7265566a3e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7268f68209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7268f6820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e0d37e43d1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e0d37e43d1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7265566a3e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7265566a3e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e076522d85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e076522d8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7265566a3e_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7265566a3e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7265566a3e_0_1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7265566a3e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7265566a3e_0_1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7265566a3e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7265566a3e_0_1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7265566a3e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e6126f89a3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e6126f89a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e6126f89a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e6126f89a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e6126f89a3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e6126f89a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e076522d85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e076522d8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1416B"/>
              </a:buClr>
              <a:buSzPts val="3600"/>
              <a:buFont typeface="Arial"/>
              <a:buNone/>
              <a:defRPr sz="3600">
                <a:solidFill>
                  <a:srgbClr val="01416B"/>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1053084" y="1783333"/>
            <a:ext cx="10515600" cy="151251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rgbClr val="01416B"/>
              </a:buClr>
              <a:buSzPts val="3200"/>
              <a:buFont typeface="Arial"/>
              <a:buNone/>
              <a:defRPr sz="3200">
                <a:solidFill>
                  <a:srgbClr val="01416B"/>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3"/>
          <p:cNvSpPr txBox="1"/>
          <p:nvPr>
            <p:ph idx="1" type="body"/>
          </p:nvPr>
        </p:nvSpPr>
        <p:spPr>
          <a:xfrm>
            <a:off x="1053084" y="4097909"/>
            <a:ext cx="3339034" cy="1343522"/>
          </a:xfrm>
          <a:prstGeom prst="rect">
            <a:avLst/>
          </a:prstGeom>
          <a:noFill/>
          <a:ln>
            <a:noFill/>
          </a:ln>
        </p:spPr>
        <p:txBody>
          <a:bodyPr anchorCtr="0" anchor="t" bIns="45700" lIns="91425" spcFirstLastPara="1" rIns="91425" wrap="square" tIns="45700">
            <a:normAutofit/>
          </a:bodyPr>
          <a:lstStyle>
            <a:lvl1pPr indent="-228600" lvl="0" marL="457200" algn="l">
              <a:lnSpc>
                <a:spcPct val="148571"/>
              </a:lnSpc>
              <a:spcBef>
                <a:spcPts val="1000"/>
              </a:spcBef>
              <a:spcAft>
                <a:spcPts val="0"/>
              </a:spcAft>
              <a:buClr>
                <a:schemeClr val="dk1"/>
              </a:buClr>
              <a:buSzPts val="1400"/>
              <a:buFont typeface="Arial"/>
              <a:buNone/>
              <a:defRPr sz="1400">
                <a:solidFill>
                  <a:schemeClr val="dk1"/>
                </a:solidFill>
              </a:defRPr>
            </a:lvl1pPr>
            <a:lvl2pPr indent="-228600" lvl="1" marL="914400" algn="l">
              <a:lnSpc>
                <a:spcPct val="90000"/>
              </a:lnSpc>
              <a:spcBef>
                <a:spcPts val="500"/>
              </a:spcBef>
              <a:spcAft>
                <a:spcPts val="0"/>
              </a:spcAft>
              <a:buClr>
                <a:schemeClr val="dk1"/>
              </a:buClr>
              <a:buSzPts val="2400"/>
              <a:buFont typeface="Arial"/>
              <a:buNone/>
              <a:defRPr/>
            </a:lvl2pPr>
            <a:lvl3pPr indent="-228600" lvl="2" marL="1371600" algn="l">
              <a:lnSpc>
                <a:spcPct val="90000"/>
              </a:lnSpc>
              <a:spcBef>
                <a:spcPts val="500"/>
              </a:spcBef>
              <a:spcAft>
                <a:spcPts val="0"/>
              </a:spcAft>
              <a:buClr>
                <a:schemeClr val="dk1"/>
              </a:buClr>
              <a:buSzPts val="2000"/>
              <a:buFont typeface="Arial"/>
              <a:buNone/>
              <a:defRPr/>
            </a:lvl3pPr>
            <a:lvl4pPr indent="-228600" lvl="3" marL="1828800" algn="l">
              <a:lnSpc>
                <a:spcPct val="90000"/>
              </a:lnSpc>
              <a:spcBef>
                <a:spcPts val="500"/>
              </a:spcBef>
              <a:spcAft>
                <a:spcPts val="0"/>
              </a:spcAft>
              <a:buClr>
                <a:schemeClr val="dk1"/>
              </a:buClr>
              <a:buSzPts val="1800"/>
              <a:buFont typeface="Arial"/>
              <a:buNone/>
              <a:defRPr/>
            </a:lvl4pPr>
            <a:lvl5pPr indent="-228600" lvl="4" marL="2286000" algn="l">
              <a:lnSpc>
                <a:spcPct val="90000"/>
              </a:lnSpc>
              <a:spcBef>
                <a:spcPts val="500"/>
              </a:spcBef>
              <a:spcAft>
                <a:spcPts val="0"/>
              </a:spcAft>
              <a:buClr>
                <a:schemeClr val="dk1"/>
              </a:buClr>
              <a:buSzPts val="1800"/>
              <a:buFont typeface="Arial"/>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1416B"/>
              </a:buClr>
              <a:buSzPts val="3600"/>
              <a:buFont typeface="Arial"/>
              <a:buNone/>
              <a:defRPr sz="3600">
                <a:solidFill>
                  <a:srgbClr val="01416B"/>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Char char="•"/>
              <a:defRPr sz="2400"/>
            </a:lvl1pPr>
            <a:lvl2pPr indent="-355600" lvl="1" marL="914400" algn="l">
              <a:lnSpc>
                <a:spcPct val="90000"/>
              </a:lnSpc>
              <a:spcBef>
                <a:spcPts val="500"/>
              </a:spcBef>
              <a:spcAft>
                <a:spcPts val="0"/>
              </a:spcAft>
              <a:buClr>
                <a:schemeClr val="dk1"/>
              </a:buClr>
              <a:buSzPts val="2000"/>
              <a:buChar char="•"/>
              <a:defRPr sz="2000"/>
            </a:lvl2pPr>
            <a:lvl3pPr indent="-342900" lvl="2" marL="1371600" algn="l">
              <a:lnSpc>
                <a:spcPct val="90000"/>
              </a:lnSpc>
              <a:spcBef>
                <a:spcPts val="500"/>
              </a:spcBef>
              <a:spcAft>
                <a:spcPts val="0"/>
              </a:spcAft>
              <a:buClr>
                <a:schemeClr val="dk1"/>
              </a:buClr>
              <a:buSzPts val="1800"/>
              <a:buChar char="•"/>
              <a:defRPr sz="1800"/>
            </a:lvl3pPr>
            <a:lvl4pPr indent="-330200" lvl="3" marL="1828800" algn="l">
              <a:lnSpc>
                <a:spcPct val="90000"/>
              </a:lnSpc>
              <a:spcBef>
                <a:spcPts val="500"/>
              </a:spcBef>
              <a:spcAft>
                <a:spcPts val="0"/>
              </a:spcAft>
              <a:buClr>
                <a:schemeClr val="dk1"/>
              </a:buClr>
              <a:buSzPts val="1600"/>
              <a:buChar char="•"/>
              <a:defRPr sz="1600"/>
            </a:lvl4pPr>
            <a:lvl5pPr indent="-330200" lvl="4" marL="2286000" algn="l">
              <a:lnSpc>
                <a:spcPct val="90000"/>
              </a:lnSpc>
              <a:spcBef>
                <a:spcPts val="5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Char char="•"/>
              <a:defRPr sz="2400"/>
            </a:lvl1pPr>
            <a:lvl2pPr indent="-355600" lvl="1" marL="914400" algn="l">
              <a:lnSpc>
                <a:spcPct val="90000"/>
              </a:lnSpc>
              <a:spcBef>
                <a:spcPts val="500"/>
              </a:spcBef>
              <a:spcAft>
                <a:spcPts val="0"/>
              </a:spcAft>
              <a:buClr>
                <a:schemeClr val="dk1"/>
              </a:buClr>
              <a:buSzPts val="2000"/>
              <a:buChar char="•"/>
              <a:defRPr sz="2000"/>
            </a:lvl2pPr>
            <a:lvl3pPr indent="-342900" lvl="2" marL="1371600" algn="l">
              <a:lnSpc>
                <a:spcPct val="90000"/>
              </a:lnSpc>
              <a:spcBef>
                <a:spcPts val="500"/>
              </a:spcBef>
              <a:spcAft>
                <a:spcPts val="0"/>
              </a:spcAft>
              <a:buClr>
                <a:schemeClr val="dk1"/>
              </a:buClr>
              <a:buSzPts val="1800"/>
              <a:buChar char="•"/>
              <a:defRPr sz="1800"/>
            </a:lvl3pPr>
            <a:lvl4pPr indent="-330200" lvl="3" marL="1828800" algn="l">
              <a:lnSpc>
                <a:spcPct val="90000"/>
              </a:lnSpc>
              <a:spcBef>
                <a:spcPts val="500"/>
              </a:spcBef>
              <a:spcAft>
                <a:spcPts val="0"/>
              </a:spcAft>
              <a:buClr>
                <a:schemeClr val="dk1"/>
              </a:buClr>
              <a:buSzPts val="1600"/>
              <a:buChar char="•"/>
              <a:defRPr sz="1600"/>
            </a:lvl4pPr>
            <a:lvl5pPr indent="-330200" lvl="4" marL="2286000" algn="l">
              <a:lnSpc>
                <a:spcPct val="90000"/>
              </a:lnSpc>
              <a:spcBef>
                <a:spcPts val="5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bg>
      <p:bgPr>
        <a:blipFill>
          <a:blip r:embed="rId2">
            <a:alphaModFix/>
          </a:blip>
          <a:stretch>
            <a:fillRect/>
          </a:stretch>
        </a:blipFill>
      </p:bgPr>
    </p:bg>
    <p:spTree>
      <p:nvGrpSpPr>
        <p:cNvPr id="21" name="Shape 21"/>
        <p:cNvGrpSpPr/>
        <p:nvPr/>
      </p:nvGrpSpPr>
      <p:grpSpPr>
        <a:xfrm>
          <a:off x="0" y="0"/>
          <a:ext cx="0" cy="0"/>
          <a:chOff x="0" y="0"/>
          <a:chExt cx="0" cy="0"/>
        </a:xfrm>
      </p:grpSpPr>
      <p:sp>
        <p:nvSpPr>
          <p:cNvPr id="22" name="Google Shape;22;p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1416B"/>
              </a:buClr>
              <a:buSzPts val="3600"/>
              <a:buFont typeface="Arial"/>
              <a:buNone/>
              <a:defRPr sz="3600">
                <a:solidFill>
                  <a:srgbClr val="01416B"/>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4" name="Google Shape;24;p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Char char="•"/>
              <a:defRPr sz="2400"/>
            </a:lvl1pPr>
            <a:lvl2pPr indent="-355600" lvl="1" marL="914400" algn="l">
              <a:lnSpc>
                <a:spcPct val="90000"/>
              </a:lnSpc>
              <a:spcBef>
                <a:spcPts val="500"/>
              </a:spcBef>
              <a:spcAft>
                <a:spcPts val="0"/>
              </a:spcAft>
              <a:buClr>
                <a:schemeClr val="dk1"/>
              </a:buClr>
              <a:buSzPts val="2000"/>
              <a:buChar char="•"/>
              <a:defRPr sz="2000"/>
            </a:lvl2pPr>
            <a:lvl3pPr indent="-342900" lvl="2" marL="1371600" algn="l">
              <a:lnSpc>
                <a:spcPct val="90000"/>
              </a:lnSpc>
              <a:spcBef>
                <a:spcPts val="500"/>
              </a:spcBef>
              <a:spcAft>
                <a:spcPts val="0"/>
              </a:spcAft>
              <a:buClr>
                <a:schemeClr val="dk1"/>
              </a:buClr>
              <a:buSzPts val="1800"/>
              <a:buChar char="•"/>
              <a:defRPr sz="1800"/>
            </a:lvl3pPr>
            <a:lvl4pPr indent="-330200" lvl="3" marL="1828800" algn="l">
              <a:lnSpc>
                <a:spcPct val="90000"/>
              </a:lnSpc>
              <a:spcBef>
                <a:spcPts val="500"/>
              </a:spcBef>
              <a:spcAft>
                <a:spcPts val="0"/>
              </a:spcAft>
              <a:buClr>
                <a:schemeClr val="dk1"/>
              </a:buClr>
              <a:buSzPts val="1600"/>
              <a:buChar char="•"/>
              <a:defRPr sz="1600"/>
            </a:lvl4pPr>
            <a:lvl5pPr indent="-330200" lvl="4" marL="2286000" algn="l">
              <a:lnSpc>
                <a:spcPct val="90000"/>
              </a:lnSpc>
              <a:spcBef>
                <a:spcPts val="5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6" name="Google Shape;26;p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Char char="•"/>
              <a:defRPr sz="2400"/>
            </a:lvl1pPr>
            <a:lvl2pPr indent="-355600" lvl="1" marL="914400" algn="l">
              <a:lnSpc>
                <a:spcPct val="90000"/>
              </a:lnSpc>
              <a:spcBef>
                <a:spcPts val="500"/>
              </a:spcBef>
              <a:spcAft>
                <a:spcPts val="0"/>
              </a:spcAft>
              <a:buClr>
                <a:schemeClr val="dk1"/>
              </a:buClr>
              <a:buSzPts val="2000"/>
              <a:buChar char="•"/>
              <a:defRPr sz="2000"/>
            </a:lvl2pPr>
            <a:lvl3pPr indent="-342900" lvl="2" marL="1371600" algn="l">
              <a:lnSpc>
                <a:spcPct val="90000"/>
              </a:lnSpc>
              <a:spcBef>
                <a:spcPts val="500"/>
              </a:spcBef>
              <a:spcAft>
                <a:spcPts val="0"/>
              </a:spcAft>
              <a:buClr>
                <a:schemeClr val="dk1"/>
              </a:buClr>
              <a:buSzPts val="1800"/>
              <a:buChar char="•"/>
              <a:defRPr sz="1800"/>
            </a:lvl3pPr>
            <a:lvl4pPr indent="-330200" lvl="3" marL="1828800" algn="l">
              <a:lnSpc>
                <a:spcPct val="90000"/>
              </a:lnSpc>
              <a:spcBef>
                <a:spcPts val="500"/>
              </a:spcBef>
              <a:spcAft>
                <a:spcPts val="0"/>
              </a:spcAft>
              <a:buClr>
                <a:schemeClr val="dk1"/>
              </a:buClr>
              <a:buSzPts val="1600"/>
              <a:buChar char="•"/>
              <a:defRPr sz="1600"/>
            </a:lvl4pPr>
            <a:lvl5pPr indent="-330200" lvl="4" marL="2286000" algn="l">
              <a:lnSpc>
                <a:spcPct val="90000"/>
              </a:lnSpc>
              <a:spcBef>
                <a:spcPts val="5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blipFill>
          <a:blip r:embed="rId2">
            <a:alphaModFix/>
          </a:blip>
          <a:stretch>
            <a:fillRect/>
          </a:stretch>
        </a:blipFill>
      </p:bgPr>
    </p:bg>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1416B"/>
              </a:buClr>
              <a:buSzPts val="3600"/>
              <a:buFont typeface="Arial"/>
              <a:buNone/>
              <a:defRPr sz="3600">
                <a:solidFill>
                  <a:srgbClr val="01416B"/>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blipFill>
          <a:blip r:embed="rId2">
            <a:alphaModFix/>
          </a:blip>
          <a:stretch>
            <a:fillRect/>
          </a:stretch>
        </a:blipFill>
      </p:bgPr>
    </p:bg>
    <p:spTree>
      <p:nvGrpSpPr>
        <p:cNvPr id="29" name="Shape 29"/>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bg>
      <p:bgPr>
        <a:blipFill>
          <a:blip r:embed="rId2">
            <a:alphaModFix/>
          </a:blip>
          <a:stretch>
            <a:fillRect/>
          </a:stretch>
        </a:blipFill>
      </p:bgPr>
    </p:bg>
    <p:spTree>
      <p:nvGrpSpPr>
        <p:cNvPr id="30" name="Shape 30"/>
        <p:cNvGrpSpPr/>
        <p:nvPr/>
      </p:nvGrpSpPr>
      <p:grpSpPr>
        <a:xfrm>
          <a:off x="0" y="0"/>
          <a:ext cx="0" cy="0"/>
          <a:chOff x="0" y="0"/>
          <a:chExt cx="0" cy="0"/>
        </a:xfrm>
      </p:grpSpPr>
      <p:sp>
        <p:nvSpPr>
          <p:cNvPr id="31" name="Google Shape;31;p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1416B"/>
              </a:buClr>
              <a:buSzPts val="3200"/>
              <a:buFont typeface="Arial"/>
              <a:buNone/>
              <a:defRPr sz="3200">
                <a:solidFill>
                  <a:srgbClr val="01416B"/>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8"/>
          <p:cNvSpPr txBox="1"/>
          <p:nvPr>
            <p:ph idx="1" type="body"/>
          </p:nvPr>
        </p:nvSpPr>
        <p:spPr>
          <a:xfrm>
            <a:off x="5183188" y="1245141"/>
            <a:ext cx="6172200" cy="4615910"/>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Char char="•"/>
              <a:defRPr sz="2400"/>
            </a:lvl1pPr>
            <a:lvl2pPr indent="-355600" lvl="1" marL="914400" algn="l">
              <a:lnSpc>
                <a:spcPct val="90000"/>
              </a:lnSpc>
              <a:spcBef>
                <a:spcPts val="500"/>
              </a:spcBef>
              <a:spcAft>
                <a:spcPts val="0"/>
              </a:spcAft>
              <a:buClr>
                <a:schemeClr val="dk1"/>
              </a:buClr>
              <a:buSzPts val="2000"/>
              <a:buChar char="•"/>
              <a:defRPr sz="2000"/>
            </a:lvl2pPr>
            <a:lvl3pPr indent="-342900" lvl="2" marL="1371600" algn="l">
              <a:lnSpc>
                <a:spcPct val="90000"/>
              </a:lnSpc>
              <a:spcBef>
                <a:spcPts val="500"/>
              </a:spcBef>
              <a:spcAft>
                <a:spcPts val="0"/>
              </a:spcAft>
              <a:buClr>
                <a:schemeClr val="dk1"/>
              </a:buClr>
              <a:buSzPts val="1800"/>
              <a:buChar char="•"/>
              <a:defRPr sz="1800"/>
            </a:lvl3pPr>
            <a:lvl4pPr indent="-330200" lvl="3" marL="1828800" algn="l">
              <a:lnSpc>
                <a:spcPct val="90000"/>
              </a:lnSpc>
              <a:spcBef>
                <a:spcPts val="500"/>
              </a:spcBef>
              <a:spcAft>
                <a:spcPts val="0"/>
              </a:spcAft>
              <a:buClr>
                <a:schemeClr val="dk1"/>
              </a:buClr>
              <a:buSzPts val="1600"/>
              <a:buChar char="•"/>
              <a:defRPr sz="1600"/>
            </a:lvl4pPr>
            <a:lvl5pPr indent="-330200" lvl="4" marL="2286000" algn="l">
              <a:lnSpc>
                <a:spcPct val="90000"/>
              </a:lnSpc>
              <a:spcBef>
                <a:spcPts val="500"/>
              </a:spcBef>
              <a:spcAft>
                <a:spcPts val="0"/>
              </a:spcAft>
              <a:buClr>
                <a:schemeClr val="dk1"/>
              </a:buClr>
              <a:buSzPts val="1600"/>
              <a:buChar char="•"/>
              <a:defRPr sz="16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33" name="Google Shape;33;p8"/>
          <p:cNvSpPr txBox="1"/>
          <p:nvPr>
            <p:ph idx="2" type="body"/>
          </p:nvPr>
        </p:nvSpPr>
        <p:spPr>
          <a:xfrm>
            <a:off x="839788" y="2315182"/>
            <a:ext cx="3932237" cy="35538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bg>
      <p:bgPr>
        <a:blipFill>
          <a:blip r:embed="rId2">
            <a:alphaModFix/>
          </a:blip>
          <a:stretch>
            <a:fillRect/>
          </a:stretch>
        </a:blipFill>
      </p:bgPr>
    </p:bg>
    <p:spTree>
      <p:nvGrpSpPr>
        <p:cNvPr id="34" name="Shape 34"/>
        <p:cNvGrpSpPr/>
        <p:nvPr/>
      </p:nvGrpSpPr>
      <p:grpSpPr>
        <a:xfrm>
          <a:off x="0" y="0"/>
          <a:ext cx="0" cy="0"/>
          <a:chOff x="0" y="0"/>
          <a:chExt cx="0" cy="0"/>
        </a:xfrm>
      </p:grpSpPr>
      <p:sp>
        <p:nvSpPr>
          <p:cNvPr id="35" name="Google Shape;3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1416B"/>
              </a:buClr>
              <a:buSzPts val="3200"/>
              <a:buFont typeface="Arial"/>
              <a:buNone/>
              <a:defRPr sz="3200">
                <a:solidFill>
                  <a:srgbClr val="01416B"/>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9"/>
          <p:cNvSpPr/>
          <p:nvPr>
            <p:ph idx="2" type="pic"/>
          </p:nvPr>
        </p:nvSpPr>
        <p:spPr>
          <a:xfrm>
            <a:off x="5183188" y="987425"/>
            <a:ext cx="6172200" cy="4873625"/>
          </a:xfrm>
          <a:prstGeom prst="rect">
            <a:avLst/>
          </a:prstGeom>
          <a:noFill/>
          <a:ln>
            <a:noFill/>
          </a:ln>
        </p:spPr>
      </p:sp>
      <p:sp>
        <p:nvSpPr>
          <p:cNvPr id="37" name="Google Shape;37;p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1"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4.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hyperlink" Target="https://www.kaggle.com/datasets/adityakadiwal/water-potability"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3.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1.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 Id="rId3"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5.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416B"/>
        </a:solidFill>
      </p:bgPr>
    </p:bg>
    <p:spTree>
      <p:nvGrpSpPr>
        <p:cNvPr id="41" name="Shape 41"/>
        <p:cNvGrpSpPr/>
        <p:nvPr/>
      </p:nvGrpSpPr>
      <p:grpSpPr>
        <a:xfrm>
          <a:off x="0" y="0"/>
          <a:ext cx="0" cy="0"/>
          <a:chOff x="0" y="0"/>
          <a:chExt cx="0" cy="0"/>
        </a:xfrm>
      </p:grpSpPr>
      <p:sp>
        <p:nvSpPr>
          <p:cNvPr id="42" name="Google Shape;42;p10"/>
          <p:cNvSpPr txBox="1"/>
          <p:nvPr/>
        </p:nvSpPr>
        <p:spPr>
          <a:xfrm>
            <a:off x="525593" y="4169550"/>
            <a:ext cx="5727900" cy="1314900"/>
          </a:xfrm>
          <a:prstGeom prst="rect">
            <a:avLst/>
          </a:prstGeom>
          <a:noFill/>
          <a:ln>
            <a:noFill/>
          </a:ln>
        </p:spPr>
        <p:txBody>
          <a:bodyPr anchorCtr="0" anchor="t" bIns="45700" lIns="91425" spcFirstLastPara="1" rIns="91425" wrap="square" tIns="45700">
            <a:spAutoFit/>
          </a:bodyPr>
          <a:lstStyle/>
          <a:p>
            <a:pPr indent="0" lvl="0" marL="0" marR="0" rtl="0" algn="l">
              <a:lnSpc>
                <a:spcPct val="148571"/>
              </a:lnSpc>
              <a:spcBef>
                <a:spcPts val="0"/>
              </a:spcBef>
              <a:spcAft>
                <a:spcPts val="0"/>
              </a:spcAft>
              <a:buNone/>
            </a:pPr>
            <a:r>
              <a:rPr lang="en-US" sz="2000">
                <a:solidFill>
                  <a:schemeClr val="lt1"/>
                </a:solidFill>
                <a:latin typeface="Times New Roman"/>
                <a:ea typeface="Times New Roman"/>
                <a:cs typeface="Times New Roman"/>
                <a:sym typeface="Times New Roman"/>
              </a:rPr>
              <a:t>Damarjati Maulana Hilmi 	(23/525106/PPA/06590)</a:t>
            </a:r>
            <a:endParaRPr sz="2000">
              <a:solidFill>
                <a:schemeClr val="lt1"/>
              </a:solidFill>
              <a:latin typeface="Times New Roman"/>
              <a:ea typeface="Times New Roman"/>
              <a:cs typeface="Times New Roman"/>
              <a:sym typeface="Times New Roman"/>
            </a:endParaRPr>
          </a:p>
          <a:p>
            <a:pPr indent="0" lvl="0" marL="0" marR="0" rtl="0" algn="l">
              <a:lnSpc>
                <a:spcPct val="148571"/>
              </a:lnSpc>
              <a:spcBef>
                <a:spcPts val="0"/>
              </a:spcBef>
              <a:spcAft>
                <a:spcPts val="0"/>
              </a:spcAft>
              <a:buNone/>
            </a:pPr>
            <a:r>
              <a:rPr lang="en-US" sz="2000">
                <a:solidFill>
                  <a:schemeClr val="lt1"/>
                </a:solidFill>
                <a:latin typeface="Times New Roman"/>
                <a:ea typeface="Times New Roman"/>
                <a:cs typeface="Times New Roman"/>
                <a:sym typeface="Times New Roman"/>
              </a:rPr>
              <a:t>Ika Christine Purba 		(23/526772/PPA/06663)</a:t>
            </a:r>
            <a:endParaRPr sz="2000">
              <a:solidFill>
                <a:schemeClr val="lt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US" sz="2000">
                <a:solidFill>
                  <a:schemeClr val="lt1"/>
                </a:solidFill>
                <a:latin typeface="Times New Roman"/>
                <a:ea typeface="Times New Roman"/>
                <a:cs typeface="Times New Roman"/>
                <a:sym typeface="Times New Roman"/>
              </a:rPr>
              <a:t>Nurul Fadilah			(23/526313/PPA/06646)</a:t>
            </a:r>
            <a:endParaRPr sz="2000">
              <a:solidFill>
                <a:schemeClr val="lt1"/>
              </a:solidFill>
            </a:endParaRPr>
          </a:p>
        </p:txBody>
      </p:sp>
      <p:pic>
        <p:nvPicPr>
          <p:cNvPr id="43" name="Google Shape;43;p10"/>
          <p:cNvPicPr preferRelativeResize="0"/>
          <p:nvPr/>
        </p:nvPicPr>
        <p:blipFill rotWithShape="1">
          <a:blip r:embed="rId3">
            <a:alphaModFix/>
          </a:blip>
          <a:srcRect b="0" l="0" r="0" t="0"/>
          <a:stretch/>
        </p:blipFill>
        <p:spPr>
          <a:xfrm>
            <a:off x="3400551" y="482258"/>
            <a:ext cx="8791449" cy="6375742"/>
          </a:xfrm>
          <a:prstGeom prst="rect">
            <a:avLst/>
          </a:prstGeom>
          <a:noFill/>
          <a:ln>
            <a:noFill/>
          </a:ln>
        </p:spPr>
      </p:pic>
      <p:sp>
        <p:nvSpPr>
          <p:cNvPr id="44" name="Google Shape;44;p10"/>
          <p:cNvSpPr/>
          <p:nvPr/>
        </p:nvSpPr>
        <p:spPr>
          <a:xfrm>
            <a:off x="3826383" y="913701"/>
            <a:ext cx="7773161" cy="6350"/>
          </a:xfrm>
          <a:custGeom>
            <a:rect b="b" l="l" r="r" t="t"/>
            <a:pathLst>
              <a:path extrusionOk="0" h="6350" w="7773161">
                <a:moveTo>
                  <a:pt x="0" y="0"/>
                </a:moveTo>
                <a:lnTo>
                  <a:pt x="7773162" y="0"/>
                </a:lnTo>
              </a:path>
            </a:pathLst>
          </a:custGeom>
          <a:noFill/>
          <a:ln cap="flat" cmpd="sng" w="9525">
            <a:solidFill>
              <a:srgbClr val="FFFFF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 name="Google Shape;45;p10"/>
          <p:cNvSpPr txBox="1"/>
          <p:nvPr/>
        </p:nvSpPr>
        <p:spPr>
          <a:xfrm>
            <a:off x="508625" y="1947100"/>
            <a:ext cx="6623100" cy="1262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800">
                <a:solidFill>
                  <a:srgbClr val="FDD402"/>
                </a:solidFill>
              </a:rPr>
              <a:t>Prediksi Churn Nasabah di Industri Perbankan</a:t>
            </a:r>
            <a:endParaRPr sz="3800"/>
          </a:p>
        </p:txBody>
      </p:sp>
      <p:sp>
        <p:nvSpPr>
          <p:cNvPr id="46" name="Google Shape;46;p10"/>
          <p:cNvSpPr/>
          <p:nvPr/>
        </p:nvSpPr>
        <p:spPr>
          <a:xfrm>
            <a:off x="600075" y="4070667"/>
            <a:ext cx="777176" cy="32258"/>
          </a:xfrm>
          <a:custGeom>
            <a:rect b="b" l="l" r="r" t="t"/>
            <a:pathLst>
              <a:path extrusionOk="0" h="32258" w="777176">
                <a:moveTo>
                  <a:pt x="0" y="0"/>
                </a:moveTo>
                <a:lnTo>
                  <a:pt x="777177" y="0"/>
                </a:lnTo>
                <a:lnTo>
                  <a:pt x="777177" y="32258"/>
                </a:lnTo>
                <a:lnTo>
                  <a:pt x="0" y="3225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 name="Google Shape;47;p10"/>
          <p:cNvSpPr txBox="1"/>
          <p:nvPr/>
        </p:nvSpPr>
        <p:spPr>
          <a:xfrm>
            <a:off x="6703631" y="6165469"/>
            <a:ext cx="4739118"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FFFFFF"/>
                </a:solidFill>
                <a:latin typeface="Arial"/>
                <a:ea typeface="Arial"/>
                <a:cs typeface="Arial"/>
                <a:sym typeface="Arial"/>
              </a:rPr>
              <a:t>LOCALLY ROOTED, GLOBALLY RESPECTED</a:t>
            </a:r>
            <a:endParaRPr/>
          </a:p>
        </p:txBody>
      </p:sp>
      <p:sp>
        <p:nvSpPr>
          <p:cNvPr id="48" name="Google Shape;48;p10"/>
          <p:cNvSpPr txBox="1"/>
          <p:nvPr/>
        </p:nvSpPr>
        <p:spPr>
          <a:xfrm>
            <a:off x="525589" y="6173025"/>
            <a:ext cx="128778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FFFFFF"/>
                </a:solidFill>
                <a:latin typeface="Arial"/>
                <a:ea typeface="Arial"/>
                <a:cs typeface="Arial"/>
                <a:sym typeface="Arial"/>
              </a:rPr>
              <a:t>ugm.ac.id</a:t>
            </a:r>
            <a:endParaRPr sz="1500">
              <a:solidFill>
                <a:srgbClr val="FFFFFF"/>
              </a:solidFill>
              <a:latin typeface="Arial"/>
              <a:ea typeface="Arial"/>
              <a:cs typeface="Arial"/>
              <a:sym typeface="Arial"/>
            </a:endParaRPr>
          </a:p>
        </p:txBody>
      </p:sp>
      <p:sp>
        <p:nvSpPr>
          <p:cNvPr id="49" name="Google Shape;49;p10"/>
          <p:cNvSpPr/>
          <p:nvPr/>
        </p:nvSpPr>
        <p:spPr>
          <a:xfrm>
            <a:off x="4635" y="6700202"/>
            <a:ext cx="12187364" cy="157797"/>
          </a:xfrm>
          <a:custGeom>
            <a:rect b="b" l="l" r="r" t="t"/>
            <a:pathLst>
              <a:path extrusionOk="0" h="157797" w="12187364">
                <a:moveTo>
                  <a:pt x="0" y="0"/>
                </a:moveTo>
                <a:lnTo>
                  <a:pt x="12187364" y="0"/>
                </a:lnTo>
                <a:lnTo>
                  <a:pt x="12187364" y="157798"/>
                </a:lnTo>
                <a:lnTo>
                  <a:pt x="0" y="157798"/>
                </a:lnTo>
                <a:close/>
              </a:path>
            </a:pathLst>
          </a:custGeom>
          <a:solidFill>
            <a:srgbClr val="FDD4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50" name="Google Shape;50;p10"/>
          <p:cNvPicPr preferRelativeResize="0"/>
          <p:nvPr/>
        </p:nvPicPr>
        <p:blipFill rotWithShape="1">
          <a:blip r:embed="rId4">
            <a:alphaModFix/>
          </a:blip>
          <a:srcRect b="0" l="0" r="0" t="0"/>
          <a:stretch/>
        </p:blipFill>
        <p:spPr>
          <a:xfrm>
            <a:off x="525589" y="486819"/>
            <a:ext cx="3037719" cy="86646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Latar Belakang </a:t>
            </a:r>
            <a:endParaRPr/>
          </a:p>
        </p:txBody>
      </p:sp>
      <p:sp>
        <p:nvSpPr>
          <p:cNvPr id="56" name="Google Shape;56;p11"/>
          <p:cNvSpPr txBox="1"/>
          <p:nvPr>
            <p:ph idx="1" type="body"/>
          </p:nvPr>
        </p:nvSpPr>
        <p:spPr>
          <a:xfrm>
            <a:off x="3311625" y="1944150"/>
            <a:ext cx="7043100" cy="4351200"/>
          </a:xfrm>
          <a:prstGeom prst="rect">
            <a:avLst/>
          </a:prstGeom>
        </p:spPr>
        <p:txBody>
          <a:bodyPr anchorCtr="0" anchor="t" bIns="45700" lIns="91425" spcFirstLastPara="1" rIns="91425" wrap="square" tIns="45700">
            <a:normAutofit/>
          </a:bodyPr>
          <a:lstStyle/>
          <a:p>
            <a:pPr indent="-355600" lvl="0" marL="457200" rtl="0" algn="just">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Retensi nasabah adalah kunci bagi keberlanjutan dan pertumbuhan perbankan.</a:t>
            </a:r>
            <a:endParaRPr sz="2000">
              <a:latin typeface="Times New Roman"/>
              <a:ea typeface="Times New Roman"/>
              <a:cs typeface="Times New Roman"/>
              <a:sym typeface="Times New Roman"/>
            </a:endParaRPr>
          </a:p>
          <a:p>
            <a:pPr indent="-355600" lvl="0" marL="457200" rtl="0" algn="just">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Tingkat </a:t>
            </a:r>
            <a:r>
              <a:rPr i="1" lang="en-US" sz="2000">
                <a:latin typeface="Times New Roman"/>
                <a:ea typeface="Times New Roman"/>
                <a:cs typeface="Times New Roman"/>
                <a:sym typeface="Times New Roman"/>
              </a:rPr>
              <a:t>churn</a:t>
            </a:r>
            <a:r>
              <a:rPr lang="en-US" sz="2000">
                <a:latin typeface="Times New Roman"/>
                <a:ea typeface="Times New Roman"/>
                <a:cs typeface="Times New Roman"/>
                <a:sym typeface="Times New Roman"/>
              </a:rPr>
              <a:t> yang tinggi menandakan potensi masalah dalam layanan, produk, atau hubungan dengan nasabah.</a:t>
            </a:r>
            <a:endParaRPr sz="2000">
              <a:latin typeface="Times New Roman"/>
              <a:ea typeface="Times New Roman"/>
              <a:cs typeface="Times New Roman"/>
              <a:sym typeface="Times New Roman"/>
            </a:endParaRPr>
          </a:p>
          <a:p>
            <a:pPr indent="-355600" lvl="0" marL="457200" rtl="0" algn="just">
              <a:lnSpc>
                <a:spcPct val="115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Nasabah cenderung berpindah jika ada ketidakpuasan atau terdapat penawaran yang lebih baik di tempat lain.</a:t>
            </a:r>
            <a:endParaRPr sz="2000">
              <a:latin typeface="Times New Roman"/>
              <a:ea typeface="Times New Roman"/>
              <a:cs typeface="Times New Roman"/>
              <a:sym typeface="Times New Roman"/>
            </a:endParaRPr>
          </a:p>
          <a:p>
            <a:pPr indent="0" lvl="0" marL="457200" rtl="0" algn="just">
              <a:lnSpc>
                <a:spcPct val="115000"/>
              </a:lnSpc>
              <a:spcBef>
                <a:spcPts val="0"/>
              </a:spcBef>
              <a:spcAft>
                <a:spcPts val="0"/>
              </a:spcAft>
              <a:buNone/>
            </a:pPr>
            <a:r>
              <a:t/>
            </a:r>
            <a:endParaRPr sz="2000">
              <a:latin typeface="Times New Roman"/>
              <a:ea typeface="Times New Roman"/>
              <a:cs typeface="Times New Roman"/>
              <a:sym typeface="Times New Roman"/>
            </a:endParaRPr>
          </a:p>
        </p:txBody>
      </p:sp>
      <p:pic>
        <p:nvPicPr>
          <p:cNvPr id="57" name="Google Shape;57;p11"/>
          <p:cNvPicPr preferRelativeResize="0"/>
          <p:nvPr/>
        </p:nvPicPr>
        <p:blipFill>
          <a:blip r:embed="rId3">
            <a:alphaModFix/>
          </a:blip>
          <a:stretch>
            <a:fillRect/>
          </a:stretch>
        </p:blipFill>
        <p:spPr>
          <a:xfrm>
            <a:off x="2034650" y="2693825"/>
            <a:ext cx="1387725" cy="787000"/>
          </a:xfrm>
          <a:prstGeom prst="rect">
            <a:avLst/>
          </a:prstGeom>
          <a:noFill/>
          <a:ln>
            <a:noFill/>
          </a:ln>
        </p:spPr>
      </p:pic>
      <p:pic>
        <p:nvPicPr>
          <p:cNvPr id="58" name="Google Shape;58;p11"/>
          <p:cNvPicPr preferRelativeResize="0"/>
          <p:nvPr/>
        </p:nvPicPr>
        <p:blipFill>
          <a:blip r:embed="rId4">
            <a:alphaModFix/>
          </a:blip>
          <a:stretch>
            <a:fillRect/>
          </a:stretch>
        </p:blipFill>
        <p:spPr>
          <a:xfrm>
            <a:off x="517475" y="2259775"/>
            <a:ext cx="1819675" cy="145574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2"/>
          <p:cNvSpPr txBox="1"/>
          <p:nvPr>
            <p:ph idx="1" type="body"/>
          </p:nvPr>
        </p:nvSpPr>
        <p:spPr>
          <a:xfrm>
            <a:off x="973725" y="1120850"/>
            <a:ext cx="10515600" cy="4631100"/>
          </a:xfrm>
          <a:prstGeom prst="rect">
            <a:avLst/>
          </a:prstGeom>
        </p:spPr>
        <p:txBody>
          <a:bodyPr anchorCtr="0" anchor="t" bIns="45700" lIns="91425" spcFirstLastPara="1" rIns="91425" wrap="square" tIns="45700">
            <a:normAutofit/>
          </a:bodyPr>
          <a:lstStyle/>
          <a:p>
            <a:pPr indent="0" lvl="0" marL="0" rtl="0" algn="ctr">
              <a:lnSpc>
                <a:spcPct val="115000"/>
              </a:lnSpc>
              <a:spcBef>
                <a:spcPts val="0"/>
              </a:spcBef>
              <a:spcAft>
                <a:spcPts val="0"/>
              </a:spcAft>
              <a:buClr>
                <a:schemeClr val="dk1"/>
              </a:buClr>
              <a:buSzPts val="1100"/>
              <a:buFont typeface="Arial"/>
              <a:buNone/>
            </a:pPr>
            <a:r>
              <a:rPr b="1" lang="en-US" sz="2000">
                <a:latin typeface="Times New Roman"/>
                <a:ea typeface="Times New Roman"/>
                <a:cs typeface="Times New Roman"/>
                <a:sym typeface="Times New Roman"/>
              </a:rPr>
              <a:t>Rumusan Masalah</a:t>
            </a:r>
            <a:endParaRPr b="1" sz="2000">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rPr lang="en-US" sz="2000">
                <a:latin typeface="Times New Roman"/>
                <a:ea typeface="Times New Roman"/>
                <a:cs typeface="Times New Roman"/>
                <a:sym typeface="Times New Roman"/>
              </a:rPr>
              <a:t>Terjadinya </a:t>
            </a:r>
            <a:r>
              <a:rPr i="1" lang="en-US" sz="2000">
                <a:latin typeface="Times New Roman"/>
                <a:ea typeface="Times New Roman"/>
                <a:cs typeface="Times New Roman"/>
                <a:sym typeface="Times New Roman"/>
              </a:rPr>
              <a:t>churn </a:t>
            </a:r>
            <a:r>
              <a:rPr lang="en-US" sz="2000">
                <a:latin typeface="Times New Roman"/>
                <a:ea typeface="Times New Roman"/>
                <a:cs typeface="Times New Roman"/>
                <a:sym typeface="Times New Roman"/>
              </a:rPr>
              <a:t>dapat mengakibatkan kerugian pada bank sehingga diperlukan identifikasi faktor-faktor yang mempengaruhi terjadinya </a:t>
            </a:r>
            <a:r>
              <a:rPr i="1" lang="en-US" sz="2000">
                <a:latin typeface="Times New Roman"/>
                <a:ea typeface="Times New Roman"/>
                <a:cs typeface="Times New Roman"/>
                <a:sym typeface="Times New Roman"/>
              </a:rPr>
              <a:t>churn</a:t>
            </a:r>
            <a:r>
              <a:rPr lang="en-US"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t/>
            </a:r>
            <a:endParaRPr sz="2000">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t/>
            </a:r>
            <a:endParaRPr sz="2000">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b="1" lang="en-US" sz="2000">
                <a:latin typeface="Times New Roman"/>
                <a:ea typeface="Times New Roman"/>
                <a:cs typeface="Times New Roman"/>
                <a:sym typeface="Times New Roman"/>
              </a:rPr>
              <a:t>Tujuan</a:t>
            </a:r>
            <a:endParaRPr b="1" sz="2000">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rPr lang="en-US" sz="2000">
                <a:latin typeface="Times New Roman"/>
                <a:ea typeface="Times New Roman"/>
                <a:cs typeface="Times New Roman"/>
                <a:sym typeface="Times New Roman"/>
              </a:rPr>
              <a:t>Penelitian ini bertujuan untuk mengevaluasi performa berbagai model machine learning dalam tugas klasifikasi serta menganalisis kontribusi fitur-fitur dataset menggunakan ANOVA dan Mutual Information. </a:t>
            </a:r>
            <a:endParaRPr b="1" sz="2000">
              <a:solidFill>
                <a:srgbClr val="888888"/>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Dataset</a:t>
            </a:r>
            <a:endParaRPr/>
          </a:p>
        </p:txBody>
      </p:sp>
      <p:pic>
        <p:nvPicPr>
          <p:cNvPr id="69" name="Google Shape;69;p13"/>
          <p:cNvPicPr preferRelativeResize="0"/>
          <p:nvPr/>
        </p:nvPicPr>
        <p:blipFill>
          <a:blip r:embed="rId3">
            <a:alphaModFix/>
          </a:blip>
          <a:stretch>
            <a:fillRect/>
          </a:stretch>
        </p:blipFill>
        <p:spPr>
          <a:xfrm>
            <a:off x="1050752" y="1835402"/>
            <a:ext cx="9873648" cy="3663350"/>
          </a:xfrm>
          <a:prstGeom prst="rect">
            <a:avLst/>
          </a:prstGeom>
          <a:noFill/>
          <a:ln>
            <a:noFill/>
          </a:ln>
        </p:spPr>
      </p:pic>
      <p:sp>
        <p:nvSpPr>
          <p:cNvPr id="70" name="Google Shape;70;p13"/>
          <p:cNvSpPr txBox="1"/>
          <p:nvPr/>
        </p:nvSpPr>
        <p:spPr>
          <a:xfrm>
            <a:off x="967075" y="5643325"/>
            <a:ext cx="10041000" cy="4617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1200"/>
              </a:spcBef>
              <a:spcAft>
                <a:spcPts val="120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Link dataset:</a:t>
            </a:r>
            <a:r>
              <a:rPr lang="en-US" sz="1800">
                <a:solidFill>
                  <a:schemeClr val="dk1"/>
                </a:solidFill>
                <a:uFill>
                  <a:noFill/>
                </a:uFill>
                <a:latin typeface="Times New Roman"/>
                <a:ea typeface="Times New Roman"/>
                <a:cs typeface="Times New Roman"/>
                <a:sym typeface="Times New Roman"/>
                <a:hlinkClick r:id="rId4">
                  <a:extLst>
                    <a:ext uri="{A12FA001-AC4F-418D-AE19-62706E023703}">
                      <ahyp:hlinkClr val="tx"/>
                    </a:ext>
                  </a:extLst>
                </a:hlinkClick>
              </a:rPr>
              <a:t> </a:t>
            </a:r>
            <a:r>
              <a:rPr lang="en-US" sz="1800" u="sng">
                <a:solidFill>
                  <a:srgbClr val="1155CC"/>
                </a:solidFill>
                <a:latin typeface="Times New Roman"/>
                <a:ea typeface="Times New Roman"/>
                <a:cs typeface="Times New Roman"/>
                <a:sym typeface="Times New Roman"/>
              </a:rPr>
              <a:t>https://www.kaggle.com/datasets/adammaus/predicting-churn-for-bank-customers</a:t>
            </a: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Data Preparation</a:t>
            </a:r>
            <a:endParaRPr/>
          </a:p>
        </p:txBody>
      </p:sp>
      <p:sp>
        <p:nvSpPr>
          <p:cNvPr id="76" name="Google Shape;76;p1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just">
              <a:spcBef>
                <a:spcPts val="1000"/>
              </a:spcBef>
              <a:spcAft>
                <a:spcPts val="0"/>
              </a:spcAft>
              <a:buNone/>
            </a:pPr>
            <a:r>
              <a:rPr lang="en-US" sz="2500">
                <a:latin typeface="Times New Roman"/>
                <a:ea typeface="Times New Roman"/>
                <a:cs typeface="Times New Roman"/>
                <a:sym typeface="Times New Roman"/>
              </a:rPr>
              <a:t>Melakukan d</a:t>
            </a:r>
            <a:r>
              <a:rPr lang="en-US" sz="2500">
                <a:latin typeface="Times New Roman"/>
                <a:ea typeface="Times New Roman"/>
                <a:cs typeface="Times New Roman"/>
                <a:sym typeface="Times New Roman"/>
              </a:rPr>
              <a:t>rop kolom: kolom </a:t>
            </a:r>
            <a:r>
              <a:rPr b="1" lang="en-US" sz="2500">
                <a:latin typeface="Times New Roman"/>
                <a:ea typeface="Times New Roman"/>
                <a:cs typeface="Times New Roman"/>
                <a:sym typeface="Times New Roman"/>
              </a:rPr>
              <a:t>RowNumber</a:t>
            </a:r>
            <a:r>
              <a:rPr lang="en-US" sz="2500">
                <a:latin typeface="Times New Roman"/>
                <a:ea typeface="Times New Roman"/>
                <a:cs typeface="Times New Roman"/>
                <a:sym typeface="Times New Roman"/>
              </a:rPr>
              <a:t>, </a:t>
            </a:r>
            <a:r>
              <a:rPr b="1" lang="en-US" sz="2500">
                <a:latin typeface="Times New Roman"/>
                <a:ea typeface="Times New Roman"/>
                <a:cs typeface="Times New Roman"/>
                <a:sym typeface="Times New Roman"/>
              </a:rPr>
              <a:t>CustomerId</a:t>
            </a:r>
            <a:r>
              <a:rPr lang="en-US" sz="2500">
                <a:latin typeface="Times New Roman"/>
                <a:ea typeface="Times New Roman"/>
                <a:cs typeface="Times New Roman"/>
                <a:sym typeface="Times New Roman"/>
              </a:rPr>
              <a:t>, dan </a:t>
            </a:r>
            <a:r>
              <a:rPr b="1" lang="en-US" sz="2500">
                <a:latin typeface="Times New Roman"/>
                <a:ea typeface="Times New Roman"/>
                <a:cs typeface="Times New Roman"/>
                <a:sym typeface="Times New Roman"/>
              </a:rPr>
              <a:t>Surname</a:t>
            </a:r>
            <a:r>
              <a:rPr lang="en-US" sz="2500">
                <a:latin typeface="Times New Roman"/>
                <a:ea typeface="Times New Roman"/>
                <a:cs typeface="Times New Roman"/>
                <a:sym typeface="Times New Roman"/>
              </a:rPr>
              <a:t> dapat dihilangkan karena tidak memberikan informasi relevan data, yaitu hanya berupa informasi spesifik untuk masing-masing nasabah.</a:t>
            </a:r>
            <a:endParaRPr sz="2500">
              <a:latin typeface="Times New Roman"/>
              <a:ea typeface="Times New Roman"/>
              <a:cs typeface="Times New Roman"/>
              <a:sym typeface="Times New Roman"/>
            </a:endParaRPr>
          </a:p>
          <a:p>
            <a:pPr indent="0" lvl="0" marL="0" rtl="0" algn="just">
              <a:spcBef>
                <a:spcPts val="1000"/>
              </a:spcBef>
              <a:spcAft>
                <a:spcPts val="0"/>
              </a:spcAft>
              <a:buNone/>
            </a:pPr>
            <a:r>
              <a:t/>
            </a:r>
            <a:endParaRPr sz="2500">
              <a:latin typeface="Times New Roman"/>
              <a:ea typeface="Times New Roman"/>
              <a:cs typeface="Times New Roman"/>
              <a:sym typeface="Times New Roman"/>
            </a:endParaRPr>
          </a:p>
        </p:txBody>
      </p:sp>
      <p:pic>
        <p:nvPicPr>
          <p:cNvPr id="77" name="Google Shape;77;p14"/>
          <p:cNvPicPr preferRelativeResize="0"/>
          <p:nvPr/>
        </p:nvPicPr>
        <p:blipFill>
          <a:blip r:embed="rId3">
            <a:alphaModFix/>
          </a:blip>
          <a:stretch>
            <a:fillRect/>
          </a:stretch>
        </p:blipFill>
        <p:spPr>
          <a:xfrm>
            <a:off x="4043050" y="3301900"/>
            <a:ext cx="4105900" cy="2588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EDA: </a:t>
            </a:r>
            <a:r>
              <a:rPr lang="en-US"/>
              <a:t>Proporsi Nasabah </a:t>
            </a:r>
            <a:r>
              <a:rPr i="1" lang="en-US"/>
              <a:t>Churn</a:t>
            </a:r>
            <a:r>
              <a:rPr lang="en-US"/>
              <a:t> dan </a:t>
            </a:r>
            <a:r>
              <a:rPr i="1" lang="en-US"/>
              <a:t>Loyal</a:t>
            </a:r>
            <a:endParaRPr i="1"/>
          </a:p>
        </p:txBody>
      </p:sp>
      <p:pic>
        <p:nvPicPr>
          <p:cNvPr id="83" name="Google Shape;83;p15"/>
          <p:cNvPicPr preferRelativeResize="0"/>
          <p:nvPr/>
        </p:nvPicPr>
        <p:blipFill>
          <a:blip r:embed="rId3">
            <a:alphaModFix/>
          </a:blip>
          <a:stretch>
            <a:fillRect/>
          </a:stretch>
        </p:blipFill>
        <p:spPr>
          <a:xfrm>
            <a:off x="838200" y="1949305"/>
            <a:ext cx="4369449" cy="3102049"/>
          </a:xfrm>
          <a:prstGeom prst="rect">
            <a:avLst/>
          </a:prstGeom>
          <a:noFill/>
          <a:ln>
            <a:noFill/>
          </a:ln>
        </p:spPr>
      </p:pic>
      <p:sp>
        <p:nvSpPr>
          <p:cNvPr id="84" name="Google Shape;84;p15"/>
          <p:cNvSpPr txBox="1"/>
          <p:nvPr/>
        </p:nvSpPr>
        <p:spPr>
          <a:xfrm>
            <a:off x="5419200" y="2105250"/>
            <a:ext cx="5934600" cy="264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2000">
                <a:solidFill>
                  <a:srgbClr val="0D0D0D"/>
                </a:solidFill>
                <a:highlight>
                  <a:srgbClr val="FFFFFF"/>
                </a:highlight>
                <a:latin typeface="Times New Roman"/>
                <a:ea typeface="Times New Roman"/>
                <a:cs typeface="Times New Roman"/>
                <a:sym typeface="Times New Roman"/>
              </a:rPr>
              <a:t>Grafik diatas membandingkan jumlah nasabah yang churn dengan nasabah yang tetap loyal. </a:t>
            </a:r>
            <a:r>
              <a:rPr lang="en-US" sz="2000">
                <a:solidFill>
                  <a:schemeClr val="dk1"/>
                </a:solidFill>
                <a:latin typeface="Times New Roman"/>
                <a:ea typeface="Times New Roman"/>
                <a:cs typeface="Times New Roman"/>
                <a:sym typeface="Times New Roman"/>
              </a:rPr>
              <a:t>Pie Chart diatas </a:t>
            </a:r>
            <a:r>
              <a:rPr lang="en-US" sz="2000">
                <a:solidFill>
                  <a:srgbClr val="0D0D0D"/>
                </a:solidFill>
                <a:highlight>
                  <a:srgbClr val="FFFFFF"/>
                </a:highlight>
                <a:latin typeface="Times New Roman"/>
                <a:ea typeface="Times New Roman"/>
                <a:cs typeface="Times New Roman"/>
                <a:sym typeface="Times New Roman"/>
              </a:rPr>
              <a:t>menunjukkan proporsi nasabah yang churn (berhenti menggunakan layanan) dan loyal (tetap menggunakan layanan). Mayoritas nasabah (79.6%) tetap loyal menggunakan layanan, sementara sebagian kecil (20.4%) telah churn atau berhenti menggunakan layanan.</a:t>
            </a:r>
            <a:endParaRPr sz="2000">
              <a:solidFill>
                <a:srgbClr val="0D0D0D"/>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838200" y="365125"/>
            <a:ext cx="10515600" cy="702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2900"/>
              <a:t>EDA: Visualisasi Data</a:t>
            </a:r>
            <a:endParaRPr sz="2900"/>
          </a:p>
        </p:txBody>
      </p:sp>
      <p:sp>
        <p:nvSpPr>
          <p:cNvPr id="90" name="Google Shape;90;p16"/>
          <p:cNvSpPr txBox="1"/>
          <p:nvPr/>
        </p:nvSpPr>
        <p:spPr>
          <a:xfrm>
            <a:off x="7197600" y="2159125"/>
            <a:ext cx="4156200" cy="2929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2100"/>
              </a:spcBef>
              <a:spcAft>
                <a:spcPts val="0"/>
              </a:spcAft>
              <a:buClr>
                <a:schemeClr val="dk1"/>
              </a:buClr>
              <a:buSzPts val="1100"/>
              <a:buFont typeface="Arial"/>
              <a:buNone/>
            </a:pPr>
            <a:r>
              <a:rPr lang="en-US" sz="1600">
                <a:solidFill>
                  <a:srgbClr val="0D0D0D"/>
                </a:solidFill>
                <a:highlight>
                  <a:srgbClr val="FFFFFF"/>
                </a:highlight>
                <a:latin typeface="Times New Roman"/>
                <a:ea typeface="Times New Roman"/>
                <a:cs typeface="Times New Roman"/>
                <a:sym typeface="Times New Roman"/>
              </a:rPr>
              <a:t>Dari sisi geografi, nasabah di France lebih sedikit yang churn dibandingkan dengan Spain dan Germany. Dari sisi jenis kelamin, baik perempuan maupun laki-laki lebih banyak yang tidak churn, tetapi proporsi churn lebih tinggi pada nasabah laki-laki dibandingkan perempuan.</a:t>
            </a:r>
            <a:endParaRPr sz="1600">
              <a:solidFill>
                <a:srgbClr val="0D0D0D"/>
              </a:solidFill>
              <a:highlight>
                <a:srgbClr val="FFFFFF"/>
              </a:highlight>
              <a:latin typeface="Times New Roman"/>
              <a:ea typeface="Times New Roman"/>
              <a:cs typeface="Times New Roman"/>
              <a:sym typeface="Times New Roman"/>
            </a:endParaRPr>
          </a:p>
          <a:p>
            <a:pPr indent="0" lvl="0" marL="0" rtl="0" algn="just">
              <a:spcBef>
                <a:spcPts val="600"/>
              </a:spcBef>
              <a:spcAft>
                <a:spcPts val="0"/>
              </a:spcAft>
              <a:buClr>
                <a:schemeClr val="dk1"/>
              </a:buClr>
              <a:buSzPts val="1100"/>
              <a:buFont typeface="Arial"/>
              <a:buNone/>
            </a:pPr>
            <a:r>
              <a:t/>
            </a:r>
            <a:endParaRPr sz="1600">
              <a:solidFill>
                <a:schemeClr val="dk1"/>
              </a:solidFill>
              <a:latin typeface="Times New Roman"/>
              <a:ea typeface="Times New Roman"/>
              <a:cs typeface="Times New Roman"/>
              <a:sym typeface="Times New Roman"/>
            </a:endParaRPr>
          </a:p>
          <a:p>
            <a:pPr indent="0" lvl="0" marL="0" rtl="0" algn="just">
              <a:lnSpc>
                <a:spcPct val="115000"/>
              </a:lnSpc>
              <a:spcBef>
                <a:spcPts val="1500"/>
              </a:spcBef>
              <a:spcAft>
                <a:spcPts val="1500"/>
              </a:spcAft>
              <a:buNone/>
            </a:pPr>
            <a:r>
              <a:t/>
            </a:r>
            <a:endParaRPr sz="1600">
              <a:solidFill>
                <a:srgbClr val="0D0D0D"/>
              </a:solidFill>
              <a:highlight>
                <a:srgbClr val="FFFFFF"/>
              </a:highlight>
              <a:latin typeface="Times New Roman"/>
              <a:ea typeface="Times New Roman"/>
              <a:cs typeface="Times New Roman"/>
              <a:sym typeface="Times New Roman"/>
            </a:endParaRPr>
          </a:p>
        </p:txBody>
      </p:sp>
      <p:pic>
        <p:nvPicPr>
          <p:cNvPr id="91" name="Google Shape;91;p16"/>
          <p:cNvPicPr preferRelativeResize="0"/>
          <p:nvPr/>
        </p:nvPicPr>
        <p:blipFill>
          <a:blip r:embed="rId3">
            <a:alphaModFix/>
          </a:blip>
          <a:stretch>
            <a:fillRect/>
          </a:stretch>
        </p:blipFill>
        <p:spPr>
          <a:xfrm>
            <a:off x="838200" y="2300525"/>
            <a:ext cx="6134176" cy="2008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838200" y="365125"/>
            <a:ext cx="10515600" cy="702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2900"/>
              <a:t>EDA: Visualisasi Data</a:t>
            </a:r>
            <a:endParaRPr sz="2900"/>
          </a:p>
        </p:txBody>
      </p:sp>
      <p:sp>
        <p:nvSpPr>
          <p:cNvPr id="97" name="Google Shape;97;p17"/>
          <p:cNvSpPr txBox="1"/>
          <p:nvPr/>
        </p:nvSpPr>
        <p:spPr>
          <a:xfrm>
            <a:off x="7197600" y="1304550"/>
            <a:ext cx="4156200" cy="4081200"/>
          </a:xfrm>
          <a:prstGeom prst="rect">
            <a:avLst/>
          </a:prstGeom>
          <a:noFill/>
          <a:ln>
            <a:noFill/>
          </a:ln>
        </p:spPr>
        <p:txBody>
          <a:bodyPr anchorCtr="0" anchor="t" bIns="91425" lIns="91425" spcFirstLastPara="1" rIns="91425" wrap="square" tIns="91425">
            <a:noAutofit/>
          </a:bodyPr>
          <a:lstStyle/>
          <a:p>
            <a:pPr indent="-349250" lvl="0" marL="457200" rtl="0" algn="l">
              <a:lnSpc>
                <a:spcPct val="115000"/>
              </a:lnSpc>
              <a:spcBef>
                <a:spcPts val="1500"/>
              </a:spcBef>
              <a:spcAft>
                <a:spcPts val="0"/>
              </a:spcAft>
              <a:buClr>
                <a:srgbClr val="0D0D0D"/>
              </a:buClr>
              <a:buSzPts val="1900"/>
              <a:buFont typeface="Times New Roman"/>
              <a:buChar char="●"/>
            </a:pPr>
            <a:r>
              <a:rPr lang="en-US" sz="1900">
                <a:solidFill>
                  <a:srgbClr val="0D0D0D"/>
                </a:solidFill>
                <a:highlight>
                  <a:srgbClr val="FFFFFF"/>
                </a:highlight>
                <a:latin typeface="Times New Roman"/>
                <a:ea typeface="Times New Roman"/>
                <a:cs typeface="Times New Roman"/>
                <a:sym typeface="Times New Roman"/>
              </a:rPr>
              <a:t>Sebagian besar nasabah, baik yang memiliki kartu kredit maupun tidak, adalah loyal.</a:t>
            </a:r>
            <a:endParaRPr sz="1900">
              <a:solidFill>
                <a:srgbClr val="0D0D0D"/>
              </a:solidFill>
              <a:highlight>
                <a:srgbClr val="FFFFFF"/>
              </a:highlight>
              <a:latin typeface="Times New Roman"/>
              <a:ea typeface="Times New Roman"/>
              <a:cs typeface="Times New Roman"/>
              <a:sym typeface="Times New Roman"/>
            </a:endParaRPr>
          </a:p>
          <a:p>
            <a:pPr indent="-349250" lvl="0" marL="457200" rtl="0" algn="l">
              <a:lnSpc>
                <a:spcPct val="115000"/>
              </a:lnSpc>
              <a:spcBef>
                <a:spcPts val="0"/>
              </a:spcBef>
              <a:spcAft>
                <a:spcPts val="0"/>
              </a:spcAft>
              <a:buClr>
                <a:srgbClr val="0D0D0D"/>
              </a:buClr>
              <a:buSzPts val="1900"/>
              <a:buFont typeface="Times New Roman"/>
              <a:buChar char="●"/>
            </a:pPr>
            <a:r>
              <a:rPr lang="en-US" sz="1900">
                <a:solidFill>
                  <a:srgbClr val="0D0D0D"/>
                </a:solidFill>
                <a:highlight>
                  <a:srgbClr val="FFFFFF"/>
                </a:highlight>
                <a:latin typeface="Times New Roman"/>
                <a:ea typeface="Times New Roman"/>
                <a:cs typeface="Times New Roman"/>
                <a:sym typeface="Times New Roman"/>
              </a:rPr>
              <a:t>Tingkat churn lebih tinggi di kalangan nasabah yang memiliki kartu kredit.</a:t>
            </a:r>
            <a:endParaRPr sz="1900">
              <a:solidFill>
                <a:srgbClr val="0D0D0D"/>
              </a:solidFill>
              <a:highlight>
                <a:srgbClr val="FFFFFF"/>
              </a:highlight>
              <a:latin typeface="Times New Roman"/>
              <a:ea typeface="Times New Roman"/>
              <a:cs typeface="Times New Roman"/>
              <a:sym typeface="Times New Roman"/>
            </a:endParaRPr>
          </a:p>
          <a:p>
            <a:pPr indent="-349250" lvl="0" marL="457200" rtl="0" algn="l">
              <a:lnSpc>
                <a:spcPct val="115000"/>
              </a:lnSpc>
              <a:spcBef>
                <a:spcPts val="0"/>
              </a:spcBef>
              <a:spcAft>
                <a:spcPts val="0"/>
              </a:spcAft>
              <a:buClr>
                <a:srgbClr val="0D0D0D"/>
              </a:buClr>
              <a:buSzPts val="1900"/>
              <a:buFont typeface="Times New Roman"/>
              <a:buChar char="●"/>
            </a:pPr>
            <a:r>
              <a:rPr lang="en-US" sz="1900">
                <a:solidFill>
                  <a:srgbClr val="0D0D0D"/>
                </a:solidFill>
                <a:highlight>
                  <a:srgbClr val="FFFFFF"/>
                </a:highlight>
                <a:latin typeface="Times New Roman"/>
                <a:ea typeface="Times New Roman"/>
                <a:cs typeface="Times New Roman"/>
                <a:sym typeface="Times New Roman"/>
              </a:rPr>
              <a:t>Sebagian besar nasabah aktif adalah loyal.</a:t>
            </a:r>
            <a:endParaRPr sz="1900">
              <a:solidFill>
                <a:srgbClr val="0D0D0D"/>
              </a:solidFill>
              <a:highlight>
                <a:srgbClr val="FFFFFF"/>
              </a:highlight>
              <a:latin typeface="Times New Roman"/>
              <a:ea typeface="Times New Roman"/>
              <a:cs typeface="Times New Roman"/>
              <a:sym typeface="Times New Roman"/>
            </a:endParaRPr>
          </a:p>
          <a:p>
            <a:pPr indent="-349250" lvl="0" marL="457200" rtl="0" algn="l">
              <a:lnSpc>
                <a:spcPct val="115000"/>
              </a:lnSpc>
              <a:spcBef>
                <a:spcPts val="0"/>
              </a:spcBef>
              <a:spcAft>
                <a:spcPts val="0"/>
              </a:spcAft>
              <a:buClr>
                <a:srgbClr val="0D0D0D"/>
              </a:buClr>
              <a:buSzPts val="1900"/>
              <a:buFont typeface="Times New Roman"/>
              <a:buChar char="●"/>
            </a:pPr>
            <a:r>
              <a:rPr lang="en-US" sz="1900">
                <a:solidFill>
                  <a:srgbClr val="0D0D0D"/>
                </a:solidFill>
                <a:highlight>
                  <a:srgbClr val="FFFFFF"/>
                </a:highlight>
                <a:latin typeface="Times New Roman"/>
                <a:ea typeface="Times New Roman"/>
                <a:cs typeface="Times New Roman"/>
                <a:sym typeface="Times New Roman"/>
              </a:rPr>
              <a:t>Tingkat churn lebih tinggi di kalangan nasabah yang tidak aktif dibandingkan dengan nasabah yang aktif.</a:t>
            </a:r>
            <a:endParaRPr sz="1900">
              <a:solidFill>
                <a:srgbClr val="0D0D0D"/>
              </a:solidFill>
              <a:highlight>
                <a:srgbClr val="FFFFFF"/>
              </a:highlight>
              <a:latin typeface="Times New Roman"/>
              <a:ea typeface="Times New Roman"/>
              <a:cs typeface="Times New Roman"/>
              <a:sym typeface="Times New Roman"/>
            </a:endParaRPr>
          </a:p>
        </p:txBody>
      </p:sp>
      <p:pic>
        <p:nvPicPr>
          <p:cNvPr id="98" name="Google Shape;98;p17"/>
          <p:cNvPicPr preferRelativeResize="0"/>
          <p:nvPr/>
        </p:nvPicPr>
        <p:blipFill>
          <a:blip r:embed="rId3">
            <a:alphaModFix/>
          </a:blip>
          <a:stretch>
            <a:fillRect/>
          </a:stretch>
        </p:blipFill>
        <p:spPr>
          <a:xfrm>
            <a:off x="457200" y="2403975"/>
            <a:ext cx="6740400" cy="22526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838200" y="365125"/>
            <a:ext cx="10515600" cy="1325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sz="3250"/>
              <a:t>EDA: </a:t>
            </a:r>
            <a:r>
              <a:rPr lang="en-US" sz="3250"/>
              <a:t>Distribusi Variabel Numerik </a:t>
            </a:r>
            <a:endParaRPr sz="3250"/>
          </a:p>
        </p:txBody>
      </p:sp>
      <p:pic>
        <p:nvPicPr>
          <p:cNvPr id="104" name="Google Shape;104;p18"/>
          <p:cNvPicPr preferRelativeResize="0"/>
          <p:nvPr/>
        </p:nvPicPr>
        <p:blipFill>
          <a:blip r:embed="rId3">
            <a:alphaModFix/>
          </a:blip>
          <a:stretch>
            <a:fillRect/>
          </a:stretch>
        </p:blipFill>
        <p:spPr>
          <a:xfrm>
            <a:off x="1030875" y="1690826"/>
            <a:ext cx="8051801" cy="1922225"/>
          </a:xfrm>
          <a:prstGeom prst="rect">
            <a:avLst/>
          </a:prstGeom>
          <a:noFill/>
          <a:ln>
            <a:noFill/>
          </a:ln>
        </p:spPr>
      </p:pic>
      <p:sp>
        <p:nvSpPr>
          <p:cNvPr id="105" name="Google Shape;105;p18"/>
          <p:cNvSpPr txBox="1"/>
          <p:nvPr/>
        </p:nvSpPr>
        <p:spPr>
          <a:xfrm>
            <a:off x="1223525" y="3515700"/>
            <a:ext cx="10515600" cy="3342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1800">
                <a:latin typeface="Times New Roman"/>
                <a:ea typeface="Times New Roman"/>
                <a:cs typeface="Times New Roman"/>
                <a:sym typeface="Times New Roman"/>
              </a:rPr>
              <a:t>CreditScore:</a:t>
            </a:r>
            <a:endParaRPr sz="1800">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US" sz="1800">
                <a:latin typeface="Times New Roman"/>
                <a:ea typeface="Times New Roman"/>
                <a:cs typeface="Times New Roman"/>
                <a:sym typeface="Times New Roman"/>
              </a:rPr>
              <a:t>Nasabah yang churn memiliki skor kredit yang sedikit lebih rendah dibandingkan dengan nasabah yang loyal, tetapi distribusi keseluruhan serupa.</a:t>
            </a:r>
            <a:endParaRPr sz="1800">
              <a:latin typeface="Times New Roman"/>
              <a:ea typeface="Times New Roman"/>
              <a:cs typeface="Times New Roman"/>
              <a:sym typeface="Times New Roman"/>
            </a:endParaRPr>
          </a:p>
          <a:p>
            <a:pPr indent="-342900" lvl="0" marL="457200" rtl="0" algn="just">
              <a:spcBef>
                <a:spcPts val="0"/>
              </a:spcBef>
              <a:spcAft>
                <a:spcPts val="0"/>
              </a:spcAft>
              <a:buSzPts val="1800"/>
              <a:buFont typeface="Times New Roman"/>
              <a:buChar char="●"/>
            </a:pPr>
            <a:r>
              <a:rPr lang="en-US" sz="1800">
                <a:latin typeface="Times New Roman"/>
                <a:ea typeface="Times New Roman"/>
                <a:cs typeface="Times New Roman"/>
                <a:sym typeface="Times New Roman"/>
              </a:rPr>
              <a:t>S</a:t>
            </a:r>
            <a:r>
              <a:rPr lang="en-US" sz="1800">
                <a:latin typeface="Times New Roman"/>
                <a:ea typeface="Times New Roman"/>
                <a:cs typeface="Times New Roman"/>
                <a:sym typeface="Times New Roman"/>
              </a:rPr>
              <a:t>kor kredit bukan merupakan faktor dominan yang membedakan antara nasabah yang churn dan yang loyal.</a:t>
            </a:r>
            <a:endParaRPr sz="1800">
              <a:latin typeface="Times New Roman"/>
              <a:ea typeface="Times New Roman"/>
              <a:cs typeface="Times New Roman"/>
              <a:sym typeface="Times New Roman"/>
            </a:endParaRPr>
          </a:p>
          <a:p>
            <a:pPr indent="0" lvl="0" marL="0" rtl="0" algn="just">
              <a:spcBef>
                <a:spcPts val="0"/>
              </a:spcBef>
              <a:spcAft>
                <a:spcPts val="0"/>
              </a:spcAft>
              <a:buNone/>
            </a:pPr>
            <a:r>
              <a:rPr lang="en-US" sz="1800">
                <a:latin typeface="Times New Roman"/>
                <a:ea typeface="Times New Roman"/>
                <a:cs typeface="Times New Roman"/>
                <a:sym typeface="Times New Roman"/>
              </a:rPr>
              <a:t>Age</a:t>
            </a:r>
            <a:r>
              <a:rPr lang="en-US"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Na</a:t>
            </a:r>
            <a:r>
              <a:rPr lang="en-US" sz="1800">
                <a:solidFill>
                  <a:schemeClr val="dk1"/>
                </a:solidFill>
                <a:latin typeface="Times New Roman"/>
                <a:ea typeface="Times New Roman"/>
                <a:cs typeface="Times New Roman"/>
                <a:sym typeface="Times New Roman"/>
              </a:rPr>
              <a:t>sabah yang lebih tua lebih cenderung untuk churn dibandingkan dengan nasabah yang lebih muda.</a:t>
            </a:r>
            <a:endParaRPr sz="1800">
              <a:solidFill>
                <a:schemeClr val="dk1"/>
              </a:solidFill>
              <a:latin typeface="Times New Roman"/>
              <a:ea typeface="Times New Roman"/>
              <a:cs typeface="Times New Roman"/>
              <a:sym typeface="Times New Roman"/>
            </a:endParaRPr>
          </a:p>
          <a:p>
            <a:pPr indent="-342900" lvl="0" marL="457200" rtl="0" algn="just">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Nasabah yang churn memiliki banyak outlier usia di kelompok usia yang lebih tua, menunjukkan bahwa nasabah yang lebih tua lebih berisiko untuk churn.</a:t>
            </a:r>
            <a:endParaRPr sz="1800">
              <a:latin typeface="Times New Roman"/>
              <a:ea typeface="Times New Roman"/>
              <a:cs typeface="Times New Roman"/>
              <a:sym typeface="Times New Roman"/>
            </a:endParaRPr>
          </a:p>
          <a:p>
            <a:pPr indent="0" lvl="0" marL="0" rtl="0" algn="just">
              <a:spcBef>
                <a:spcPts val="0"/>
              </a:spcBef>
              <a:spcAft>
                <a:spcPts val="0"/>
              </a:spcAft>
              <a:buNone/>
            </a:pPr>
            <a:r>
              <a:t/>
            </a:r>
            <a:endParaRPr sz="1800">
              <a:latin typeface="Times New Roman"/>
              <a:ea typeface="Times New Roman"/>
              <a:cs typeface="Times New Roman"/>
              <a:sym typeface="Times New Roman"/>
            </a:endParaRPr>
          </a:p>
          <a:p>
            <a:pPr indent="0" lvl="0" marL="0" rtl="0" algn="just">
              <a:spcBef>
                <a:spcPts val="0"/>
              </a:spcBef>
              <a:spcAft>
                <a:spcPts val="0"/>
              </a:spcAft>
              <a:buNone/>
            </a:pPr>
            <a:r>
              <a:t/>
            </a:r>
            <a:endParaRPr sz="18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838200" y="365125"/>
            <a:ext cx="10515600" cy="1325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sz="3250"/>
              <a:t>EDA: Distribusi Variabel Numerik </a:t>
            </a:r>
            <a:endParaRPr sz="3250"/>
          </a:p>
        </p:txBody>
      </p:sp>
      <p:sp>
        <p:nvSpPr>
          <p:cNvPr id="111" name="Google Shape;111;p19"/>
          <p:cNvSpPr txBox="1"/>
          <p:nvPr/>
        </p:nvSpPr>
        <p:spPr>
          <a:xfrm>
            <a:off x="975050" y="3693200"/>
            <a:ext cx="10802400" cy="334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latin typeface="Times New Roman"/>
                <a:ea typeface="Times New Roman"/>
                <a:cs typeface="Times New Roman"/>
                <a:sym typeface="Times New Roman"/>
              </a:rPr>
              <a:t>T</a:t>
            </a:r>
            <a:r>
              <a:rPr lang="en-US" sz="1900">
                <a:latin typeface="Times New Roman"/>
                <a:ea typeface="Times New Roman"/>
                <a:cs typeface="Times New Roman"/>
                <a:sym typeface="Times New Roman"/>
              </a:rPr>
              <a:t>enure:</a:t>
            </a:r>
            <a:endParaRPr sz="1900">
              <a:latin typeface="Times New Roman"/>
              <a:ea typeface="Times New Roman"/>
              <a:cs typeface="Times New Roman"/>
              <a:sym typeface="Times New Roman"/>
            </a:endParaRPr>
          </a:p>
          <a:p>
            <a:pPr indent="-349250" lvl="0" marL="457200" rtl="0" algn="l">
              <a:spcBef>
                <a:spcPts val="0"/>
              </a:spcBef>
              <a:spcAft>
                <a:spcPts val="0"/>
              </a:spcAft>
              <a:buSzPts val="1900"/>
              <a:buFont typeface="Times New Roman"/>
              <a:buChar char="●"/>
            </a:pPr>
            <a:r>
              <a:rPr lang="en-US" sz="1900">
                <a:latin typeface="Times New Roman"/>
                <a:ea typeface="Times New Roman"/>
                <a:cs typeface="Times New Roman"/>
                <a:sym typeface="Times New Roman"/>
              </a:rPr>
              <a:t>Lama keanggotaan tidak menunjukkan perbedaan yang signifikan antara nasabah yang churn dan yang loyal.</a:t>
            </a:r>
            <a:endParaRPr sz="1900">
              <a:latin typeface="Times New Roman"/>
              <a:ea typeface="Times New Roman"/>
              <a:cs typeface="Times New Roman"/>
              <a:sym typeface="Times New Roman"/>
            </a:endParaRPr>
          </a:p>
          <a:p>
            <a:pPr indent="-349250" lvl="0" marL="457200" rtl="0" algn="l">
              <a:spcBef>
                <a:spcPts val="0"/>
              </a:spcBef>
              <a:spcAft>
                <a:spcPts val="0"/>
              </a:spcAft>
              <a:buSzPts val="1900"/>
              <a:buFont typeface="Times New Roman"/>
              <a:buChar char="●"/>
            </a:pPr>
            <a:r>
              <a:rPr lang="en-US" sz="1900">
                <a:latin typeface="Times New Roman"/>
                <a:ea typeface="Times New Roman"/>
                <a:cs typeface="Times New Roman"/>
                <a:sym typeface="Times New Roman"/>
              </a:rPr>
              <a:t>Tenure tidak tampak sebagai faktor utama yang mempengaruhi churn.</a:t>
            </a:r>
            <a:endParaRPr sz="1900">
              <a:latin typeface="Times New Roman"/>
              <a:ea typeface="Times New Roman"/>
              <a:cs typeface="Times New Roman"/>
              <a:sym typeface="Times New Roman"/>
            </a:endParaRPr>
          </a:p>
          <a:p>
            <a:pPr indent="0" lvl="0" marL="0" rtl="0" algn="l">
              <a:spcBef>
                <a:spcPts val="0"/>
              </a:spcBef>
              <a:spcAft>
                <a:spcPts val="0"/>
              </a:spcAft>
              <a:buNone/>
            </a:pPr>
            <a:r>
              <a:rPr lang="en-US" sz="1900">
                <a:latin typeface="Times New Roman"/>
                <a:ea typeface="Times New Roman"/>
                <a:cs typeface="Times New Roman"/>
                <a:sym typeface="Times New Roman"/>
              </a:rPr>
              <a:t>Balance:</a:t>
            </a:r>
            <a:endParaRPr sz="1900">
              <a:latin typeface="Times New Roman"/>
              <a:ea typeface="Times New Roman"/>
              <a:cs typeface="Times New Roman"/>
              <a:sym typeface="Times New Roman"/>
            </a:endParaRPr>
          </a:p>
          <a:p>
            <a:pPr indent="-349250" lvl="0" marL="457200" rtl="0" algn="l">
              <a:spcBef>
                <a:spcPts val="0"/>
              </a:spcBef>
              <a:spcAft>
                <a:spcPts val="0"/>
              </a:spcAft>
              <a:buSzPts val="1900"/>
              <a:buFont typeface="Times New Roman"/>
              <a:buChar char="●"/>
            </a:pPr>
            <a:r>
              <a:rPr lang="en-US" sz="1900">
                <a:latin typeface="Times New Roman"/>
                <a:ea typeface="Times New Roman"/>
                <a:cs typeface="Times New Roman"/>
                <a:sym typeface="Times New Roman"/>
              </a:rPr>
              <a:t>Nasabah dengan saldo yang lebih tinggi cenderung lebih mungkin untuk churn dibandingkan dengan nasabah dengan saldo yang lebih rendah.</a:t>
            </a:r>
            <a:endParaRPr sz="1900">
              <a:latin typeface="Times New Roman"/>
              <a:ea typeface="Times New Roman"/>
              <a:cs typeface="Times New Roman"/>
              <a:sym typeface="Times New Roman"/>
            </a:endParaRPr>
          </a:p>
          <a:p>
            <a:pPr indent="-349250" lvl="0" marL="457200" rtl="0" algn="l">
              <a:spcBef>
                <a:spcPts val="0"/>
              </a:spcBef>
              <a:spcAft>
                <a:spcPts val="0"/>
              </a:spcAft>
              <a:buSzPts val="1900"/>
              <a:buFont typeface="Times New Roman"/>
              <a:buChar char="●"/>
            </a:pPr>
            <a:r>
              <a:rPr lang="en-US" sz="1900">
                <a:latin typeface="Times New Roman"/>
                <a:ea typeface="Times New Roman"/>
                <a:cs typeface="Times New Roman"/>
                <a:sym typeface="Times New Roman"/>
              </a:rPr>
              <a:t>Variabilitas saldo di kalangan nasabah yang churn lebih besar dibandingkan dengan nasabah yang loyal.</a:t>
            </a:r>
            <a:endParaRPr sz="1900">
              <a:latin typeface="Times New Roman"/>
              <a:ea typeface="Times New Roman"/>
              <a:cs typeface="Times New Roman"/>
              <a:sym typeface="Times New Roman"/>
            </a:endParaRPr>
          </a:p>
          <a:p>
            <a:pPr indent="0" lvl="0" marL="0" rtl="0" algn="l">
              <a:spcBef>
                <a:spcPts val="0"/>
              </a:spcBef>
              <a:spcAft>
                <a:spcPts val="0"/>
              </a:spcAft>
              <a:buNone/>
            </a:pPr>
            <a:r>
              <a:t/>
            </a:r>
            <a:endParaRPr sz="1900">
              <a:latin typeface="Times New Roman"/>
              <a:ea typeface="Times New Roman"/>
              <a:cs typeface="Times New Roman"/>
              <a:sym typeface="Times New Roman"/>
            </a:endParaRPr>
          </a:p>
        </p:txBody>
      </p:sp>
      <p:pic>
        <p:nvPicPr>
          <p:cNvPr id="112" name="Google Shape;112;p19"/>
          <p:cNvPicPr preferRelativeResize="0"/>
          <p:nvPr/>
        </p:nvPicPr>
        <p:blipFill>
          <a:blip r:embed="rId3">
            <a:alphaModFix/>
          </a:blip>
          <a:stretch>
            <a:fillRect/>
          </a:stretch>
        </p:blipFill>
        <p:spPr>
          <a:xfrm>
            <a:off x="1921850" y="1690825"/>
            <a:ext cx="8908799" cy="213520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838200" y="365125"/>
            <a:ext cx="10515600" cy="13257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US" sz="3250"/>
              <a:t>EDA: Distribusi Variabel Numerik </a:t>
            </a:r>
            <a:endParaRPr sz="3250"/>
          </a:p>
        </p:txBody>
      </p:sp>
      <p:sp>
        <p:nvSpPr>
          <p:cNvPr id="118" name="Google Shape;118;p20"/>
          <p:cNvSpPr txBox="1"/>
          <p:nvPr/>
        </p:nvSpPr>
        <p:spPr>
          <a:xfrm>
            <a:off x="975050" y="3968375"/>
            <a:ext cx="10299600" cy="3342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000">
                <a:solidFill>
                  <a:srgbClr val="0D0D0D"/>
                </a:solidFill>
                <a:highlight>
                  <a:srgbClr val="FFFFFF"/>
                </a:highlight>
                <a:latin typeface="Times New Roman"/>
                <a:ea typeface="Times New Roman"/>
                <a:cs typeface="Times New Roman"/>
                <a:sym typeface="Times New Roman"/>
              </a:rPr>
              <a:t>kedua variabel </a:t>
            </a:r>
            <a:r>
              <a:rPr b="1" lang="en-US" sz="2000">
                <a:solidFill>
                  <a:srgbClr val="0D0D0D"/>
                </a:solidFill>
                <a:highlight>
                  <a:srgbClr val="FFFFFF"/>
                </a:highlight>
                <a:latin typeface="Times New Roman"/>
                <a:ea typeface="Times New Roman"/>
                <a:cs typeface="Times New Roman"/>
                <a:sym typeface="Times New Roman"/>
              </a:rPr>
              <a:t>NumOfProducts</a:t>
            </a:r>
            <a:r>
              <a:rPr lang="en-US" sz="2000">
                <a:solidFill>
                  <a:srgbClr val="0D0D0D"/>
                </a:solidFill>
                <a:highlight>
                  <a:srgbClr val="FFFFFF"/>
                </a:highlight>
                <a:latin typeface="Times New Roman"/>
                <a:ea typeface="Times New Roman"/>
                <a:cs typeface="Times New Roman"/>
                <a:sym typeface="Times New Roman"/>
              </a:rPr>
              <a:t> dan </a:t>
            </a:r>
            <a:r>
              <a:rPr b="1" lang="en-US" sz="2000">
                <a:solidFill>
                  <a:srgbClr val="0D0D0D"/>
                </a:solidFill>
                <a:highlight>
                  <a:srgbClr val="FFFFFF"/>
                </a:highlight>
                <a:latin typeface="Times New Roman"/>
                <a:ea typeface="Times New Roman"/>
                <a:cs typeface="Times New Roman"/>
                <a:sym typeface="Times New Roman"/>
              </a:rPr>
              <a:t>EstimatedSalary</a:t>
            </a:r>
            <a:r>
              <a:rPr lang="en-US" sz="2000">
                <a:solidFill>
                  <a:srgbClr val="0D0D0D"/>
                </a:solidFill>
                <a:highlight>
                  <a:srgbClr val="FFFFFF"/>
                </a:highlight>
                <a:latin typeface="Times New Roman"/>
                <a:ea typeface="Times New Roman"/>
                <a:cs typeface="Times New Roman"/>
                <a:sym typeface="Times New Roman"/>
              </a:rPr>
              <a:t> tidak menunjukkan perbedaan distribusi yang jelas antara nasabah yang churn dan yang loyal. Ini menunjukkan bahwa faktor-faktor lain mungkin lebih berpengaruh dalam menentukan apakah nasabah akan churn atau tetap loyal.</a:t>
            </a:r>
            <a:endParaRPr sz="2000">
              <a:latin typeface="Times New Roman"/>
              <a:ea typeface="Times New Roman"/>
              <a:cs typeface="Times New Roman"/>
              <a:sym typeface="Times New Roman"/>
            </a:endParaRPr>
          </a:p>
        </p:txBody>
      </p:sp>
      <p:pic>
        <p:nvPicPr>
          <p:cNvPr id="119" name="Google Shape;119;p20"/>
          <p:cNvPicPr preferRelativeResize="0"/>
          <p:nvPr/>
        </p:nvPicPr>
        <p:blipFill>
          <a:blip r:embed="rId3">
            <a:alphaModFix/>
          </a:blip>
          <a:stretch>
            <a:fillRect/>
          </a:stretch>
        </p:blipFill>
        <p:spPr>
          <a:xfrm>
            <a:off x="1703688" y="1767025"/>
            <a:ext cx="8784626" cy="2125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Label Encoder</a:t>
            </a:r>
            <a:endParaRPr/>
          </a:p>
        </p:txBody>
      </p:sp>
      <p:pic>
        <p:nvPicPr>
          <p:cNvPr id="125" name="Google Shape;125;p21"/>
          <p:cNvPicPr preferRelativeResize="0"/>
          <p:nvPr/>
        </p:nvPicPr>
        <p:blipFill>
          <a:blip r:embed="rId3">
            <a:alphaModFix/>
          </a:blip>
          <a:stretch>
            <a:fillRect/>
          </a:stretch>
        </p:blipFill>
        <p:spPr>
          <a:xfrm>
            <a:off x="1304925" y="3095575"/>
            <a:ext cx="9582150" cy="1676400"/>
          </a:xfrm>
          <a:prstGeom prst="rect">
            <a:avLst/>
          </a:prstGeom>
          <a:noFill/>
          <a:ln>
            <a:noFill/>
          </a:ln>
        </p:spPr>
      </p:pic>
      <p:sp>
        <p:nvSpPr>
          <p:cNvPr id="126" name="Google Shape;126;p21"/>
          <p:cNvSpPr txBox="1"/>
          <p:nvPr>
            <p:ph idx="1" type="body"/>
          </p:nvPr>
        </p:nvSpPr>
        <p:spPr>
          <a:xfrm>
            <a:off x="963200" y="1396450"/>
            <a:ext cx="10850400" cy="1483500"/>
          </a:xfrm>
          <a:prstGeom prst="rect">
            <a:avLst/>
          </a:prstGeom>
        </p:spPr>
        <p:txBody>
          <a:bodyPr anchorCtr="0" anchor="t" bIns="45700" lIns="91425" spcFirstLastPara="1" rIns="91425" wrap="square" tIns="45700">
            <a:normAutofit fontScale="92500" lnSpcReduction="20000"/>
          </a:bodyPr>
          <a:lstStyle/>
          <a:p>
            <a:pPr indent="0" lvl="0" marL="0" rtl="0" algn="just">
              <a:spcBef>
                <a:spcPts val="1000"/>
              </a:spcBef>
              <a:spcAft>
                <a:spcPts val="0"/>
              </a:spcAft>
              <a:buClr>
                <a:schemeClr val="dk1"/>
              </a:buClr>
              <a:buSzPct val="40741"/>
              <a:buFont typeface="Arial"/>
              <a:buNone/>
            </a:pPr>
            <a:r>
              <a:rPr lang="en-US" sz="2700">
                <a:latin typeface="Times New Roman"/>
                <a:ea typeface="Times New Roman"/>
                <a:cs typeface="Times New Roman"/>
                <a:sym typeface="Times New Roman"/>
              </a:rPr>
              <a:t>L</a:t>
            </a:r>
            <a:r>
              <a:rPr lang="en-US" sz="2700">
                <a:latin typeface="Times New Roman"/>
                <a:ea typeface="Times New Roman"/>
                <a:cs typeface="Times New Roman"/>
                <a:sym typeface="Times New Roman"/>
              </a:rPr>
              <a:t>abel Encoding mengubah nilai kategorik menjadi nilai numerik yang dapat digunakan oleh model machine learning, dimana untuk dataset ini, fitur gender memiliki nilai ‘Female’ dan ‘Male’ diubah menjadi ‘0’ dan ‘1’. </a:t>
            </a:r>
            <a:endParaRPr sz="2700">
              <a:latin typeface="Times New Roman"/>
              <a:ea typeface="Times New Roman"/>
              <a:cs typeface="Times New Roman"/>
              <a:sym typeface="Times New Roman"/>
            </a:endParaRPr>
          </a:p>
          <a:p>
            <a:pPr indent="0" lvl="0" marL="0" rtl="0" algn="just">
              <a:spcBef>
                <a:spcPts val="1000"/>
              </a:spcBef>
              <a:spcAft>
                <a:spcPts val="0"/>
              </a:spcAft>
              <a:buNone/>
            </a:pPr>
            <a:r>
              <a:t/>
            </a:r>
            <a:endParaRPr sz="1500">
              <a:solidFill>
                <a:srgbClr val="0D0D0D"/>
              </a:solidFill>
              <a:highlight>
                <a:srgbClr val="FFFFFF"/>
              </a:highlight>
              <a:latin typeface="Times New Roman"/>
              <a:ea typeface="Times New Roman"/>
              <a:cs typeface="Times New Roman"/>
              <a:sym typeface="Times New Roman"/>
            </a:endParaRPr>
          </a:p>
          <a:p>
            <a:pPr indent="0" lvl="0" marL="0" rtl="0" algn="just">
              <a:spcBef>
                <a:spcPts val="1000"/>
              </a:spcBef>
              <a:spcAft>
                <a:spcPts val="0"/>
              </a:spcAft>
              <a:buNone/>
            </a:pPr>
            <a:r>
              <a:t/>
            </a:r>
            <a:endParaRPr sz="1500">
              <a:solidFill>
                <a:srgbClr val="0D0D0D"/>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Dummy Variable</a:t>
            </a:r>
            <a:endParaRPr/>
          </a:p>
        </p:txBody>
      </p:sp>
      <p:sp>
        <p:nvSpPr>
          <p:cNvPr id="132" name="Google Shape;132;p2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just">
              <a:spcBef>
                <a:spcPts val="1000"/>
              </a:spcBef>
              <a:spcAft>
                <a:spcPts val="0"/>
              </a:spcAft>
              <a:buNone/>
            </a:pPr>
            <a:r>
              <a:rPr lang="en-US">
                <a:latin typeface="Times New Roman"/>
                <a:ea typeface="Times New Roman"/>
                <a:cs typeface="Times New Roman"/>
                <a:sym typeface="Times New Roman"/>
              </a:rPr>
              <a:t>Fitur </a:t>
            </a:r>
            <a:r>
              <a:rPr b="1" lang="en-US">
                <a:latin typeface="Times New Roman"/>
                <a:ea typeface="Times New Roman"/>
                <a:cs typeface="Times New Roman"/>
                <a:sym typeface="Times New Roman"/>
              </a:rPr>
              <a:t>Geography</a:t>
            </a:r>
            <a:r>
              <a:rPr lang="en-US">
                <a:latin typeface="Times New Roman"/>
                <a:ea typeface="Times New Roman"/>
                <a:cs typeface="Times New Roman"/>
                <a:sym typeface="Times New Roman"/>
              </a:rPr>
              <a:t> memiliki tiga nilai: France, Spain, dan Germany. Oleh karena tiga nilai ini bukan merupakan level, untuk </a:t>
            </a:r>
            <a:r>
              <a:rPr i="1" lang="en-US">
                <a:latin typeface="Times New Roman"/>
                <a:ea typeface="Times New Roman"/>
                <a:cs typeface="Times New Roman"/>
                <a:sym typeface="Times New Roman"/>
              </a:rPr>
              <a:t>encoding</a:t>
            </a:r>
            <a:r>
              <a:rPr lang="en-US">
                <a:latin typeface="Times New Roman"/>
                <a:ea typeface="Times New Roman"/>
                <a:cs typeface="Times New Roman"/>
                <a:sym typeface="Times New Roman"/>
              </a:rPr>
              <a:t> dapat digunakan variabel </a:t>
            </a:r>
            <a:r>
              <a:rPr i="1" lang="en-US">
                <a:latin typeface="Times New Roman"/>
                <a:ea typeface="Times New Roman"/>
                <a:cs typeface="Times New Roman"/>
                <a:sym typeface="Times New Roman"/>
              </a:rPr>
              <a:t>dummy</a:t>
            </a:r>
            <a:r>
              <a:rPr lang="en-US">
                <a:latin typeface="Times New Roman"/>
                <a:ea typeface="Times New Roman"/>
                <a:cs typeface="Times New Roman"/>
                <a:sym typeface="Times New Roman"/>
              </a:rPr>
              <a:t>. Fitur </a:t>
            </a:r>
            <a:r>
              <a:rPr b="1" lang="en-US">
                <a:latin typeface="Times New Roman"/>
                <a:ea typeface="Times New Roman"/>
                <a:cs typeface="Times New Roman"/>
                <a:sym typeface="Times New Roman"/>
              </a:rPr>
              <a:t>Geography</a:t>
            </a:r>
            <a:r>
              <a:rPr lang="en-US">
                <a:latin typeface="Times New Roman"/>
                <a:ea typeface="Times New Roman"/>
                <a:cs typeface="Times New Roman"/>
                <a:sym typeface="Times New Roman"/>
              </a:rPr>
              <a:t> menjadi tiga kolom berikut.</a:t>
            </a:r>
            <a:endParaRPr>
              <a:latin typeface="Times New Roman"/>
              <a:ea typeface="Times New Roman"/>
              <a:cs typeface="Times New Roman"/>
              <a:sym typeface="Times New Roman"/>
            </a:endParaRPr>
          </a:p>
          <a:p>
            <a:pPr indent="0" lvl="0" marL="0" rtl="0" algn="just">
              <a:spcBef>
                <a:spcPts val="1000"/>
              </a:spcBef>
              <a:spcAft>
                <a:spcPts val="0"/>
              </a:spcAft>
              <a:buNone/>
            </a:pPr>
            <a:r>
              <a:t/>
            </a:r>
            <a:endParaRPr>
              <a:latin typeface="Times New Roman"/>
              <a:ea typeface="Times New Roman"/>
              <a:cs typeface="Times New Roman"/>
              <a:sym typeface="Times New Roman"/>
            </a:endParaRPr>
          </a:p>
        </p:txBody>
      </p:sp>
      <p:pic>
        <p:nvPicPr>
          <p:cNvPr id="133" name="Google Shape;133;p22"/>
          <p:cNvPicPr preferRelativeResize="0"/>
          <p:nvPr/>
        </p:nvPicPr>
        <p:blipFill>
          <a:blip r:embed="rId3">
            <a:alphaModFix/>
          </a:blip>
          <a:stretch>
            <a:fillRect/>
          </a:stretch>
        </p:blipFill>
        <p:spPr>
          <a:xfrm>
            <a:off x="4786300" y="3444963"/>
            <a:ext cx="2619375" cy="23145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Dummy Variable</a:t>
            </a:r>
            <a:endParaRPr/>
          </a:p>
        </p:txBody>
      </p:sp>
      <p:sp>
        <p:nvSpPr>
          <p:cNvPr id="139" name="Google Shape;139;p23"/>
          <p:cNvSpPr txBox="1"/>
          <p:nvPr>
            <p:ph idx="1" type="body"/>
          </p:nvPr>
        </p:nvSpPr>
        <p:spPr>
          <a:xfrm>
            <a:off x="963200" y="1396450"/>
            <a:ext cx="10390500" cy="2800200"/>
          </a:xfrm>
          <a:prstGeom prst="rect">
            <a:avLst/>
          </a:prstGeom>
        </p:spPr>
        <p:txBody>
          <a:bodyPr anchorCtr="0" anchor="t" bIns="45700" lIns="91425" spcFirstLastPara="1" rIns="91425" wrap="square" tIns="45700">
            <a:noAutofit/>
          </a:bodyPr>
          <a:lstStyle/>
          <a:p>
            <a:pPr indent="0" lvl="0" marL="0" rtl="0" algn="just">
              <a:spcBef>
                <a:spcPts val="1000"/>
              </a:spcBef>
              <a:spcAft>
                <a:spcPts val="0"/>
              </a:spcAft>
              <a:buClr>
                <a:schemeClr val="dk1"/>
              </a:buClr>
              <a:buSzPts val="1100"/>
              <a:buFont typeface="Arial"/>
              <a:buNone/>
            </a:pPr>
            <a:r>
              <a:rPr lang="en-US">
                <a:latin typeface="Times New Roman"/>
                <a:ea typeface="Times New Roman"/>
                <a:cs typeface="Times New Roman"/>
                <a:sym typeface="Times New Roman"/>
              </a:rPr>
              <a:t>Oleh karena nilai geography dapat diperoleh cukup menggunakan dua kolom, </a:t>
            </a:r>
            <a:r>
              <a:rPr lang="en-US">
                <a:solidFill>
                  <a:srgbClr val="212121"/>
                </a:solidFill>
                <a:highlight>
                  <a:srgbClr val="FFFFFF"/>
                </a:highlight>
                <a:latin typeface="Times New Roman"/>
                <a:ea typeface="Times New Roman"/>
                <a:cs typeface="Times New Roman"/>
                <a:sym typeface="Times New Roman"/>
              </a:rPr>
              <a:t>s</a:t>
            </a:r>
            <a:r>
              <a:rPr lang="en-US">
                <a:solidFill>
                  <a:srgbClr val="212121"/>
                </a:solidFill>
                <a:highlight>
                  <a:srgbClr val="FFFFFF"/>
                </a:highlight>
                <a:latin typeface="Times New Roman"/>
                <a:ea typeface="Times New Roman"/>
                <a:cs typeface="Times New Roman"/>
                <a:sym typeface="Times New Roman"/>
              </a:rPr>
              <a:t>alah satu kolom dapat dihapus, misalkan kolom France dihapus, diperoleh:</a:t>
            </a:r>
            <a:endParaRPr>
              <a:solidFill>
                <a:srgbClr val="212121"/>
              </a:solidFill>
              <a:highlight>
                <a:srgbClr val="FFFFFF"/>
              </a:highlight>
              <a:latin typeface="Times New Roman"/>
              <a:ea typeface="Times New Roman"/>
              <a:cs typeface="Times New Roman"/>
              <a:sym typeface="Times New Roman"/>
            </a:endParaRPr>
          </a:p>
          <a:p>
            <a:pPr indent="-381000" lvl="0" marL="457200" rtl="0" algn="just">
              <a:lnSpc>
                <a:spcPct val="115000"/>
              </a:lnSpc>
              <a:spcBef>
                <a:spcPts val="600"/>
              </a:spcBef>
              <a:spcAft>
                <a:spcPts val="0"/>
              </a:spcAft>
              <a:buClr>
                <a:srgbClr val="212121"/>
              </a:buClr>
              <a:buSzPts val="2400"/>
              <a:buFont typeface="Times New Roman"/>
              <a:buChar char="●"/>
            </a:pPr>
            <a:r>
              <a:rPr lang="en-US">
                <a:solidFill>
                  <a:srgbClr val="212121"/>
                </a:solidFill>
                <a:highlight>
                  <a:srgbClr val="FFFFFF"/>
                </a:highlight>
                <a:latin typeface="Times New Roman"/>
                <a:ea typeface="Times New Roman"/>
                <a:cs typeface="Times New Roman"/>
                <a:sym typeface="Times New Roman"/>
              </a:rPr>
              <a:t>00 adalah nasabah dari France</a:t>
            </a:r>
            <a:endParaRPr>
              <a:solidFill>
                <a:srgbClr val="212121"/>
              </a:solidFill>
              <a:highlight>
                <a:srgbClr val="FFFFFF"/>
              </a:highlight>
              <a:latin typeface="Times New Roman"/>
              <a:ea typeface="Times New Roman"/>
              <a:cs typeface="Times New Roman"/>
              <a:sym typeface="Times New Roman"/>
            </a:endParaRPr>
          </a:p>
          <a:p>
            <a:pPr indent="-381000" lvl="0" marL="457200" rtl="0" algn="just">
              <a:lnSpc>
                <a:spcPct val="115000"/>
              </a:lnSpc>
              <a:spcBef>
                <a:spcPts val="0"/>
              </a:spcBef>
              <a:spcAft>
                <a:spcPts val="0"/>
              </a:spcAft>
              <a:buClr>
                <a:srgbClr val="212121"/>
              </a:buClr>
              <a:buSzPts val="2400"/>
              <a:buFont typeface="Times New Roman"/>
              <a:buChar char="●"/>
            </a:pPr>
            <a:r>
              <a:rPr lang="en-US">
                <a:solidFill>
                  <a:srgbClr val="212121"/>
                </a:solidFill>
                <a:highlight>
                  <a:srgbClr val="FFFFFF"/>
                </a:highlight>
                <a:latin typeface="Times New Roman"/>
                <a:ea typeface="Times New Roman"/>
                <a:cs typeface="Times New Roman"/>
                <a:sym typeface="Times New Roman"/>
              </a:rPr>
              <a:t>10 adalah nasabah dari Germany</a:t>
            </a:r>
            <a:endParaRPr>
              <a:solidFill>
                <a:srgbClr val="212121"/>
              </a:solidFill>
              <a:highlight>
                <a:srgbClr val="FFFFFF"/>
              </a:highlight>
              <a:latin typeface="Times New Roman"/>
              <a:ea typeface="Times New Roman"/>
              <a:cs typeface="Times New Roman"/>
              <a:sym typeface="Times New Roman"/>
            </a:endParaRPr>
          </a:p>
          <a:p>
            <a:pPr indent="-381000" lvl="0" marL="457200" rtl="0" algn="just">
              <a:lnSpc>
                <a:spcPct val="115000"/>
              </a:lnSpc>
              <a:spcBef>
                <a:spcPts val="0"/>
              </a:spcBef>
              <a:spcAft>
                <a:spcPts val="0"/>
              </a:spcAft>
              <a:buClr>
                <a:srgbClr val="212121"/>
              </a:buClr>
              <a:buSzPts val="2400"/>
              <a:buFont typeface="Times New Roman"/>
              <a:buChar char="●"/>
            </a:pPr>
            <a:r>
              <a:rPr lang="en-US">
                <a:solidFill>
                  <a:srgbClr val="212121"/>
                </a:solidFill>
                <a:highlight>
                  <a:srgbClr val="FFFFFF"/>
                </a:highlight>
                <a:latin typeface="Times New Roman"/>
                <a:ea typeface="Times New Roman"/>
                <a:cs typeface="Times New Roman"/>
                <a:sym typeface="Times New Roman"/>
              </a:rPr>
              <a:t>01 adalah nasabah dari Spain</a:t>
            </a:r>
            <a:endParaRPr>
              <a:solidFill>
                <a:srgbClr val="212121"/>
              </a:solidFill>
              <a:highlight>
                <a:srgbClr val="FFFFFF"/>
              </a:highlight>
              <a:latin typeface="Times New Roman"/>
              <a:ea typeface="Times New Roman"/>
              <a:cs typeface="Times New Roman"/>
              <a:sym typeface="Times New Roman"/>
            </a:endParaRPr>
          </a:p>
          <a:p>
            <a:pPr indent="0" lvl="0" marL="457200" rtl="0" algn="just">
              <a:lnSpc>
                <a:spcPct val="115000"/>
              </a:lnSpc>
              <a:spcBef>
                <a:spcPts val="600"/>
              </a:spcBef>
              <a:spcAft>
                <a:spcPts val="0"/>
              </a:spcAft>
              <a:buNone/>
            </a:pPr>
            <a:r>
              <a:t/>
            </a:r>
            <a:endParaRPr>
              <a:solidFill>
                <a:srgbClr val="212121"/>
              </a:solidFill>
              <a:highlight>
                <a:srgbClr val="FFFFFF"/>
              </a:highlight>
              <a:latin typeface="Times New Roman"/>
              <a:ea typeface="Times New Roman"/>
              <a:cs typeface="Times New Roman"/>
              <a:sym typeface="Times New Roman"/>
            </a:endParaRPr>
          </a:p>
          <a:p>
            <a:pPr indent="0" lvl="0" marL="0" rtl="0" algn="just">
              <a:spcBef>
                <a:spcPts val="1000"/>
              </a:spcBef>
              <a:spcAft>
                <a:spcPts val="0"/>
              </a:spcAft>
              <a:buClr>
                <a:schemeClr val="dk1"/>
              </a:buClr>
              <a:buSzPts val="1100"/>
              <a:buFont typeface="Arial"/>
              <a:buNone/>
            </a:pPr>
            <a:r>
              <a:t/>
            </a:r>
            <a:endParaRPr>
              <a:latin typeface="Times New Roman"/>
              <a:ea typeface="Times New Roman"/>
              <a:cs typeface="Times New Roman"/>
              <a:sym typeface="Times New Roman"/>
            </a:endParaRPr>
          </a:p>
          <a:p>
            <a:pPr indent="0" lvl="0" marL="0" rtl="0" algn="just">
              <a:spcBef>
                <a:spcPts val="1000"/>
              </a:spcBef>
              <a:spcAft>
                <a:spcPts val="0"/>
              </a:spcAft>
              <a:buNone/>
            </a:pPr>
            <a:r>
              <a:t/>
            </a:r>
            <a:endParaRPr>
              <a:solidFill>
                <a:srgbClr val="0D0D0D"/>
              </a:solidFill>
              <a:highlight>
                <a:srgbClr val="FFFFFF"/>
              </a:highlight>
              <a:latin typeface="Times New Roman"/>
              <a:ea typeface="Times New Roman"/>
              <a:cs typeface="Times New Roman"/>
              <a:sym typeface="Times New Roman"/>
            </a:endParaRPr>
          </a:p>
          <a:p>
            <a:pPr indent="0" lvl="0" marL="0" rtl="0" algn="just">
              <a:spcBef>
                <a:spcPts val="1000"/>
              </a:spcBef>
              <a:spcAft>
                <a:spcPts val="0"/>
              </a:spcAft>
              <a:buNone/>
            </a:pPr>
            <a:r>
              <a:t/>
            </a:r>
            <a:endParaRPr>
              <a:solidFill>
                <a:srgbClr val="0D0D0D"/>
              </a:solidFill>
              <a:highlight>
                <a:srgbClr val="FFFFFF"/>
              </a:highlight>
              <a:latin typeface="Times New Roman"/>
              <a:ea typeface="Times New Roman"/>
              <a:cs typeface="Times New Roman"/>
              <a:sym typeface="Times New Roman"/>
            </a:endParaRPr>
          </a:p>
        </p:txBody>
      </p:sp>
      <p:pic>
        <p:nvPicPr>
          <p:cNvPr id="140" name="Google Shape;140;p23"/>
          <p:cNvPicPr preferRelativeResize="0"/>
          <p:nvPr/>
        </p:nvPicPr>
        <p:blipFill>
          <a:blip r:embed="rId3">
            <a:alphaModFix/>
          </a:blip>
          <a:stretch>
            <a:fillRect/>
          </a:stretch>
        </p:blipFill>
        <p:spPr>
          <a:xfrm>
            <a:off x="900650" y="3729750"/>
            <a:ext cx="10515598" cy="188933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4"/>
          <p:cNvSpPr txBox="1"/>
          <p:nvPr>
            <p:ph type="title"/>
          </p:nvPr>
        </p:nvSpPr>
        <p:spPr>
          <a:xfrm>
            <a:off x="354225"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Penambahan Fitur</a:t>
            </a:r>
            <a:endParaRPr/>
          </a:p>
        </p:txBody>
      </p:sp>
      <p:sp>
        <p:nvSpPr>
          <p:cNvPr id="146" name="Google Shape;146;p24"/>
          <p:cNvSpPr txBox="1"/>
          <p:nvPr>
            <p:ph idx="1" type="body"/>
          </p:nvPr>
        </p:nvSpPr>
        <p:spPr>
          <a:xfrm>
            <a:off x="-1628900" y="26170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pic>
        <p:nvPicPr>
          <p:cNvPr id="147" name="Google Shape;147;p24"/>
          <p:cNvPicPr preferRelativeResize="0"/>
          <p:nvPr/>
        </p:nvPicPr>
        <p:blipFill>
          <a:blip r:embed="rId3">
            <a:alphaModFix/>
          </a:blip>
          <a:stretch>
            <a:fillRect/>
          </a:stretch>
        </p:blipFill>
        <p:spPr>
          <a:xfrm>
            <a:off x="354225" y="3985925"/>
            <a:ext cx="11742249" cy="2084750"/>
          </a:xfrm>
          <a:prstGeom prst="rect">
            <a:avLst/>
          </a:prstGeom>
          <a:noFill/>
          <a:ln>
            <a:noFill/>
          </a:ln>
        </p:spPr>
      </p:pic>
      <p:sp>
        <p:nvSpPr>
          <p:cNvPr id="148" name="Google Shape;148;p24"/>
          <p:cNvSpPr txBox="1"/>
          <p:nvPr/>
        </p:nvSpPr>
        <p:spPr>
          <a:xfrm>
            <a:off x="354225" y="1902900"/>
            <a:ext cx="11551200" cy="1736100"/>
          </a:xfrm>
          <a:prstGeom prst="rect">
            <a:avLst/>
          </a:prstGeom>
          <a:noFill/>
          <a:ln>
            <a:noFill/>
          </a:ln>
        </p:spPr>
        <p:txBody>
          <a:bodyPr anchorCtr="0" anchor="t" bIns="91425" lIns="91425" spcFirstLastPara="1" rIns="91425" wrap="square" tIns="91425">
            <a:spAutoFit/>
          </a:bodyPr>
          <a:lstStyle/>
          <a:p>
            <a:pPr indent="0" lvl="0" marL="0" rtl="0" algn="just">
              <a:lnSpc>
                <a:spcPct val="90000"/>
              </a:lnSpc>
              <a:spcBef>
                <a:spcPts val="1000"/>
              </a:spcBef>
              <a:spcAft>
                <a:spcPts val="0"/>
              </a:spcAft>
              <a:buNone/>
            </a:pPr>
            <a:r>
              <a:rPr lang="en-US" sz="2800">
                <a:solidFill>
                  <a:schemeClr val="dk1"/>
                </a:solidFill>
                <a:latin typeface="Times New Roman"/>
                <a:ea typeface="Times New Roman"/>
                <a:cs typeface="Times New Roman"/>
                <a:sym typeface="Times New Roman"/>
              </a:rPr>
              <a:t>Rasio </a:t>
            </a:r>
            <a:r>
              <a:rPr i="1" lang="en-US" sz="2800">
                <a:solidFill>
                  <a:schemeClr val="dk1"/>
                </a:solidFill>
                <a:latin typeface="Times New Roman"/>
                <a:ea typeface="Times New Roman"/>
                <a:cs typeface="Times New Roman"/>
                <a:sym typeface="Times New Roman"/>
              </a:rPr>
              <a:t>credit score</a:t>
            </a:r>
            <a:r>
              <a:rPr lang="en-US" sz="2800">
                <a:solidFill>
                  <a:schemeClr val="dk1"/>
                </a:solidFill>
                <a:latin typeface="Times New Roman"/>
                <a:ea typeface="Times New Roman"/>
                <a:cs typeface="Times New Roman"/>
                <a:sym typeface="Times New Roman"/>
              </a:rPr>
              <a:t> terhadap umur dapat ditambahkan sebagai fitur baru. Fitur ini dapat menunjukkan adanya hubungan antara meningkatnya umur dengan </a:t>
            </a:r>
            <a:r>
              <a:rPr i="1" lang="en-US" sz="2800">
                <a:solidFill>
                  <a:schemeClr val="dk1"/>
                </a:solidFill>
                <a:latin typeface="Times New Roman"/>
                <a:ea typeface="Times New Roman"/>
                <a:cs typeface="Times New Roman"/>
                <a:sym typeface="Times New Roman"/>
              </a:rPr>
              <a:t>credit score</a:t>
            </a:r>
            <a:r>
              <a:rPr lang="en-US" sz="2800">
                <a:solidFill>
                  <a:schemeClr val="dk1"/>
                </a:solidFill>
                <a:latin typeface="Times New Roman"/>
                <a:ea typeface="Times New Roman"/>
                <a:cs typeface="Times New Roman"/>
                <a:sym typeface="Times New Roman"/>
              </a:rPr>
              <a:t>. Nasabah dengan nilai rasio tinggi mengindikasikan bahwa nasabah tersebut lebih stabil secara finansial.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ANOVA (Analysis of Variance)</a:t>
            </a:r>
            <a:endParaRPr/>
          </a:p>
        </p:txBody>
      </p:sp>
      <p:pic>
        <p:nvPicPr>
          <p:cNvPr id="154" name="Google Shape;154;p25"/>
          <p:cNvPicPr preferRelativeResize="0"/>
          <p:nvPr/>
        </p:nvPicPr>
        <p:blipFill>
          <a:blip r:embed="rId3">
            <a:alphaModFix/>
          </a:blip>
          <a:stretch>
            <a:fillRect/>
          </a:stretch>
        </p:blipFill>
        <p:spPr>
          <a:xfrm>
            <a:off x="838200" y="1541097"/>
            <a:ext cx="9444375" cy="2017300"/>
          </a:xfrm>
          <a:prstGeom prst="rect">
            <a:avLst/>
          </a:prstGeom>
          <a:noFill/>
          <a:ln>
            <a:noFill/>
          </a:ln>
        </p:spPr>
      </p:pic>
      <p:pic>
        <p:nvPicPr>
          <p:cNvPr id="155" name="Google Shape;155;p25"/>
          <p:cNvPicPr preferRelativeResize="0"/>
          <p:nvPr/>
        </p:nvPicPr>
        <p:blipFill>
          <a:blip r:embed="rId4">
            <a:alphaModFix/>
          </a:blip>
          <a:stretch>
            <a:fillRect/>
          </a:stretch>
        </p:blipFill>
        <p:spPr>
          <a:xfrm>
            <a:off x="838200" y="3673450"/>
            <a:ext cx="4248026" cy="27329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ANOVA (Analysis of Variance)</a:t>
            </a:r>
            <a:endParaRPr/>
          </a:p>
        </p:txBody>
      </p:sp>
      <p:sp>
        <p:nvSpPr>
          <p:cNvPr id="161" name="Google Shape;161;p26"/>
          <p:cNvSpPr txBox="1"/>
          <p:nvPr>
            <p:ph idx="1" type="body"/>
          </p:nvPr>
        </p:nvSpPr>
        <p:spPr>
          <a:xfrm>
            <a:off x="838200" y="1545475"/>
            <a:ext cx="10515600" cy="5028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2000">
                <a:solidFill>
                  <a:srgbClr val="212121"/>
                </a:solidFill>
                <a:highlight>
                  <a:srgbClr val="FFFFFF"/>
                </a:highlight>
                <a:latin typeface="Times New Roman"/>
                <a:ea typeface="Times New Roman"/>
                <a:cs typeface="Times New Roman"/>
                <a:sym typeface="Times New Roman"/>
              </a:rPr>
              <a:t>Drop fitur berdasarkan p-value</a:t>
            </a:r>
            <a:endParaRPr sz="2000">
              <a:latin typeface="Times New Roman"/>
              <a:ea typeface="Times New Roman"/>
              <a:cs typeface="Times New Roman"/>
              <a:sym typeface="Times New Roman"/>
            </a:endParaRPr>
          </a:p>
        </p:txBody>
      </p:sp>
      <p:pic>
        <p:nvPicPr>
          <p:cNvPr id="162" name="Google Shape;162;p26"/>
          <p:cNvPicPr preferRelativeResize="0"/>
          <p:nvPr/>
        </p:nvPicPr>
        <p:blipFill>
          <a:blip r:embed="rId3">
            <a:alphaModFix/>
          </a:blip>
          <a:stretch>
            <a:fillRect/>
          </a:stretch>
        </p:blipFill>
        <p:spPr>
          <a:xfrm>
            <a:off x="838200" y="2048275"/>
            <a:ext cx="7385676" cy="2265025"/>
          </a:xfrm>
          <a:prstGeom prst="rect">
            <a:avLst/>
          </a:prstGeom>
          <a:noFill/>
          <a:ln>
            <a:noFill/>
          </a:ln>
        </p:spPr>
      </p:pic>
      <p:pic>
        <p:nvPicPr>
          <p:cNvPr id="163" name="Google Shape;163;p26"/>
          <p:cNvPicPr preferRelativeResize="0"/>
          <p:nvPr/>
        </p:nvPicPr>
        <p:blipFill>
          <a:blip r:embed="rId4">
            <a:alphaModFix/>
          </a:blip>
          <a:stretch>
            <a:fillRect/>
          </a:stretch>
        </p:blipFill>
        <p:spPr>
          <a:xfrm>
            <a:off x="8450975" y="1545475"/>
            <a:ext cx="3209375" cy="42466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Mutual Information</a:t>
            </a:r>
            <a:endParaRPr/>
          </a:p>
        </p:txBody>
      </p:sp>
      <p:pic>
        <p:nvPicPr>
          <p:cNvPr id="169" name="Google Shape;169;p27"/>
          <p:cNvPicPr preferRelativeResize="0"/>
          <p:nvPr/>
        </p:nvPicPr>
        <p:blipFill>
          <a:blip r:embed="rId3">
            <a:alphaModFix/>
          </a:blip>
          <a:stretch>
            <a:fillRect/>
          </a:stretch>
        </p:blipFill>
        <p:spPr>
          <a:xfrm>
            <a:off x="838200" y="1952300"/>
            <a:ext cx="7260076" cy="1646050"/>
          </a:xfrm>
          <a:prstGeom prst="rect">
            <a:avLst/>
          </a:prstGeom>
          <a:noFill/>
          <a:ln>
            <a:noFill/>
          </a:ln>
        </p:spPr>
      </p:pic>
      <p:pic>
        <p:nvPicPr>
          <p:cNvPr id="170" name="Google Shape;170;p27"/>
          <p:cNvPicPr preferRelativeResize="0"/>
          <p:nvPr/>
        </p:nvPicPr>
        <p:blipFill>
          <a:blip r:embed="rId4">
            <a:alphaModFix/>
          </a:blip>
          <a:stretch>
            <a:fillRect/>
          </a:stretch>
        </p:blipFill>
        <p:spPr>
          <a:xfrm>
            <a:off x="8388750" y="1952300"/>
            <a:ext cx="2805422" cy="25242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Mutual Information</a:t>
            </a:r>
            <a:endParaRPr/>
          </a:p>
        </p:txBody>
      </p:sp>
      <p:sp>
        <p:nvSpPr>
          <p:cNvPr id="176" name="Google Shape;176;p28"/>
          <p:cNvSpPr txBox="1"/>
          <p:nvPr>
            <p:ph idx="1" type="body"/>
          </p:nvPr>
        </p:nvSpPr>
        <p:spPr>
          <a:xfrm>
            <a:off x="838200" y="1508125"/>
            <a:ext cx="10515600" cy="5214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lang="en-US">
                <a:latin typeface="Times New Roman"/>
                <a:ea typeface="Times New Roman"/>
                <a:cs typeface="Times New Roman"/>
                <a:sym typeface="Times New Roman"/>
              </a:rPr>
              <a:t>Drop fitur berdasarkan MI Score</a:t>
            </a:r>
            <a:endParaRPr>
              <a:latin typeface="Times New Roman"/>
              <a:ea typeface="Times New Roman"/>
              <a:cs typeface="Times New Roman"/>
              <a:sym typeface="Times New Roman"/>
            </a:endParaRPr>
          </a:p>
          <a:p>
            <a:pPr indent="0" lvl="0" marL="0" rtl="0" algn="l">
              <a:spcBef>
                <a:spcPts val="1000"/>
              </a:spcBef>
              <a:spcAft>
                <a:spcPts val="0"/>
              </a:spcAft>
              <a:buNone/>
            </a:pPr>
            <a:r>
              <a:t/>
            </a:r>
            <a:endParaRPr sz="2000">
              <a:latin typeface="Times New Roman"/>
              <a:ea typeface="Times New Roman"/>
              <a:cs typeface="Times New Roman"/>
              <a:sym typeface="Times New Roman"/>
            </a:endParaRPr>
          </a:p>
        </p:txBody>
      </p:sp>
      <p:pic>
        <p:nvPicPr>
          <p:cNvPr id="177" name="Google Shape;177;p28"/>
          <p:cNvPicPr preferRelativeResize="0"/>
          <p:nvPr/>
        </p:nvPicPr>
        <p:blipFill>
          <a:blip r:embed="rId3">
            <a:alphaModFix/>
          </a:blip>
          <a:stretch>
            <a:fillRect/>
          </a:stretch>
        </p:blipFill>
        <p:spPr>
          <a:xfrm>
            <a:off x="838200" y="2125900"/>
            <a:ext cx="8266199" cy="2462275"/>
          </a:xfrm>
          <a:prstGeom prst="rect">
            <a:avLst/>
          </a:prstGeom>
          <a:noFill/>
          <a:ln>
            <a:noFill/>
          </a:ln>
        </p:spPr>
      </p:pic>
      <p:pic>
        <p:nvPicPr>
          <p:cNvPr id="178" name="Google Shape;178;p28"/>
          <p:cNvPicPr preferRelativeResize="0"/>
          <p:nvPr/>
        </p:nvPicPr>
        <p:blipFill>
          <a:blip r:embed="rId4">
            <a:alphaModFix/>
          </a:blip>
          <a:stretch>
            <a:fillRect/>
          </a:stretch>
        </p:blipFill>
        <p:spPr>
          <a:xfrm>
            <a:off x="9219449" y="2029525"/>
            <a:ext cx="2782801" cy="363436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Penggunaan GridSearchCV</a:t>
            </a:r>
            <a:endParaRPr/>
          </a:p>
        </p:txBody>
      </p:sp>
      <p:sp>
        <p:nvSpPr>
          <p:cNvPr id="184" name="Google Shape;184;p29"/>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T</a:t>
            </a:r>
            <a:r>
              <a:rPr lang="en-US"/>
              <a:t>eknik pencarian grid yang digunakan untuk menemukan kombinasi terbaik dari hyperparameters untuk model machine learning. Membantu menemukan parameter terbaik untuk model dengan melakukan pencarian exhaustif pada ruang hyperparameters yang ditentukan. </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Dengan menggunakan GridSearchCV, dapat meningkatkan performa model dengan menemukan kombinasi hyperparameters yang optimal.</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0"/>
          <p:cNvSpPr txBox="1"/>
          <p:nvPr>
            <p:ph type="title"/>
          </p:nvPr>
        </p:nvSpPr>
        <p:spPr>
          <a:xfrm>
            <a:off x="839788" y="457200"/>
            <a:ext cx="3932100" cy="16002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Skenario Pengujian</a:t>
            </a:r>
            <a:endParaRPr/>
          </a:p>
        </p:txBody>
      </p:sp>
      <p:sp>
        <p:nvSpPr>
          <p:cNvPr id="190" name="Google Shape;190;p30"/>
          <p:cNvSpPr txBox="1"/>
          <p:nvPr>
            <p:ph idx="1" type="body"/>
          </p:nvPr>
        </p:nvSpPr>
        <p:spPr>
          <a:xfrm>
            <a:off x="894013" y="2233575"/>
            <a:ext cx="3932100" cy="3811500"/>
          </a:xfrm>
          <a:prstGeom prst="rect">
            <a:avLst/>
          </a:prstGeom>
        </p:spPr>
        <p:txBody>
          <a:bodyPr anchorCtr="0" anchor="t" bIns="45700" lIns="91425" spcFirstLastPara="1" rIns="91425" wrap="square" tIns="45700">
            <a:noAutofit/>
          </a:bodyPr>
          <a:lstStyle/>
          <a:p>
            <a:pPr indent="0" lvl="0" marL="0" rtl="0" algn="just">
              <a:spcBef>
                <a:spcPts val="1000"/>
              </a:spcBef>
              <a:spcAft>
                <a:spcPts val="0"/>
              </a:spcAft>
              <a:buNone/>
            </a:pPr>
            <a:r>
              <a:rPr b="1" lang="en-US" sz="1500">
                <a:latin typeface="Times New Roman"/>
                <a:ea typeface="Times New Roman"/>
                <a:cs typeface="Times New Roman"/>
                <a:sym typeface="Times New Roman"/>
              </a:rPr>
              <a:t>Gradient Boosting</a:t>
            </a:r>
            <a:r>
              <a:rPr lang="en-US" sz="1500">
                <a:latin typeface="Times New Roman"/>
                <a:ea typeface="Times New Roman"/>
                <a:cs typeface="Times New Roman"/>
                <a:sym typeface="Times New Roman"/>
              </a:rPr>
              <a:t> adalah model terbaik dalam skenario ini, memberikan akurasi, precision, dan recall yang tinggi secara keseluruhan.</a:t>
            </a:r>
            <a:endParaRPr sz="1500">
              <a:latin typeface="Times New Roman"/>
              <a:ea typeface="Times New Roman"/>
              <a:cs typeface="Times New Roman"/>
              <a:sym typeface="Times New Roman"/>
            </a:endParaRPr>
          </a:p>
          <a:p>
            <a:pPr indent="0" lvl="0" marL="0" rtl="0" algn="just">
              <a:spcBef>
                <a:spcPts val="1000"/>
              </a:spcBef>
              <a:spcAft>
                <a:spcPts val="0"/>
              </a:spcAft>
              <a:buNone/>
            </a:pPr>
            <a:r>
              <a:rPr b="1" lang="en-US" sz="1500">
                <a:latin typeface="Times New Roman"/>
                <a:ea typeface="Times New Roman"/>
                <a:cs typeface="Times New Roman"/>
                <a:sym typeface="Times New Roman"/>
              </a:rPr>
              <a:t>Random Forest</a:t>
            </a:r>
            <a:r>
              <a:rPr lang="en-US" sz="1500">
                <a:latin typeface="Times New Roman"/>
                <a:ea typeface="Times New Roman"/>
                <a:cs typeface="Times New Roman"/>
                <a:sym typeface="Times New Roman"/>
              </a:rPr>
              <a:t> juga menunjukkan performa yang kuat dan hampir sebanding dengan Gradient Boosting.</a:t>
            </a:r>
            <a:endParaRPr sz="1500">
              <a:latin typeface="Times New Roman"/>
              <a:ea typeface="Times New Roman"/>
              <a:cs typeface="Times New Roman"/>
              <a:sym typeface="Times New Roman"/>
            </a:endParaRPr>
          </a:p>
          <a:p>
            <a:pPr indent="0" lvl="0" marL="0" rtl="0" algn="just">
              <a:spcBef>
                <a:spcPts val="1000"/>
              </a:spcBef>
              <a:spcAft>
                <a:spcPts val="0"/>
              </a:spcAft>
              <a:buNone/>
            </a:pPr>
            <a:r>
              <a:rPr b="1" lang="en-US" sz="1500">
                <a:latin typeface="Times New Roman"/>
                <a:ea typeface="Times New Roman"/>
                <a:cs typeface="Times New Roman"/>
                <a:sym typeface="Times New Roman"/>
              </a:rPr>
              <a:t>Decision Tree</a:t>
            </a:r>
            <a:r>
              <a:rPr lang="en-US" sz="1500">
                <a:latin typeface="Times New Roman"/>
                <a:ea typeface="Times New Roman"/>
                <a:cs typeface="Times New Roman"/>
                <a:sym typeface="Times New Roman"/>
              </a:rPr>
              <a:t> memberikan hasil yang cukup baik, meskipun sedikit di bawah Gradient Boosting dan Random Forest.</a:t>
            </a:r>
            <a:endParaRPr sz="1500">
              <a:latin typeface="Times New Roman"/>
              <a:ea typeface="Times New Roman"/>
              <a:cs typeface="Times New Roman"/>
              <a:sym typeface="Times New Roman"/>
            </a:endParaRPr>
          </a:p>
          <a:p>
            <a:pPr indent="0" lvl="0" marL="0" rtl="0" algn="just">
              <a:spcBef>
                <a:spcPts val="1000"/>
              </a:spcBef>
              <a:spcAft>
                <a:spcPts val="0"/>
              </a:spcAft>
              <a:buNone/>
            </a:pPr>
            <a:r>
              <a:rPr b="1" lang="en-US" sz="1500">
                <a:latin typeface="Times New Roman"/>
                <a:ea typeface="Times New Roman"/>
                <a:cs typeface="Times New Roman"/>
                <a:sym typeface="Times New Roman"/>
              </a:rPr>
              <a:t>SVM</a:t>
            </a:r>
            <a:r>
              <a:rPr lang="en-US" sz="1500">
                <a:latin typeface="Times New Roman"/>
                <a:ea typeface="Times New Roman"/>
                <a:cs typeface="Times New Roman"/>
                <a:sym typeface="Times New Roman"/>
              </a:rPr>
              <a:t> tidak memberikan performa yang memuaskan, mungkin karena data atau parameter yang kurang optimal.</a:t>
            </a:r>
            <a:endParaRPr sz="1500">
              <a:latin typeface="Times New Roman"/>
              <a:ea typeface="Times New Roman"/>
              <a:cs typeface="Times New Roman"/>
              <a:sym typeface="Times New Roman"/>
            </a:endParaRPr>
          </a:p>
          <a:p>
            <a:pPr indent="0" lvl="0" marL="0" rtl="0" algn="just">
              <a:spcBef>
                <a:spcPts val="1000"/>
              </a:spcBef>
              <a:spcAft>
                <a:spcPts val="0"/>
              </a:spcAft>
              <a:buNone/>
            </a:pPr>
            <a:r>
              <a:t/>
            </a:r>
            <a:endParaRPr sz="1500">
              <a:latin typeface="Times New Roman"/>
              <a:ea typeface="Times New Roman"/>
              <a:cs typeface="Times New Roman"/>
              <a:sym typeface="Times New Roman"/>
            </a:endParaRPr>
          </a:p>
        </p:txBody>
      </p:sp>
      <p:pic>
        <p:nvPicPr>
          <p:cNvPr id="191" name="Google Shape;191;p30"/>
          <p:cNvPicPr preferRelativeResize="0"/>
          <p:nvPr/>
        </p:nvPicPr>
        <p:blipFill rotWithShape="1">
          <a:blip r:embed="rId3">
            <a:alphaModFix/>
          </a:blip>
          <a:srcRect b="0" l="0" r="0" t="5527"/>
          <a:stretch/>
        </p:blipFill>
        <p:spPr>
          <a:xfrm>
            <a:off x="5258600" y="998550"/>
            <a:ext cx="6345775" cy="52511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type="title"/>
          </p:nvPr>
        </p:nvSpPr>
        <p:spPr>
          <a:xfrm>
            <a:off x="960734" y="2672708"/>
            <a:ext cx="10515600" cy="1512600"/>
          </a:xfrm>
          <a:prstGeom prst="rect">
            <a:avLst/>
          </a:prstGeom>
        </p:spPr>
        <p:txBody>
          <a:bodyPr anchorCtr="0" anchor="t" bIns="45700" lIns="91425" spcFirstLastPara="1" rIns="91425" wrap="square" tIns="45700">
            <a:normAutofit/>
          </a:bodyPr>
          <a:lstStyle/>
          <a:p>
            <a:pPr indent="0" lvl="0" marL="0" rtl="0" algn="ctr">
              <a:spcBef>
                <a:spcPts val="0"/>
              </a:spcBef>
              <a:spcAft>
                <a:spcPts val="0"/>
              </a:spcAft>
              <a:buNone/>
            </a:pPr>
            <a:r>
              <a:rPr lang="en-US"/>
              <a:t>Demo Aplikasi</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Kesimpulan</a:t>
            </a:r>
            <a:endParaRPr/>
          </a:p>
        </p:txBody>
      </p:sp>
      <p:sp>
        <p:nvSpPr>
          <p:cNvPr id="202" name="Google Shape;202;p3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just">
              <a:spcBef>
                <a:spcPts val="1000"/>
              </a:spcBef>
              <a:spcAft>
                <a:spcPts val="0"/>
              </a:spcAft>
              <a:buNone/>
            </a:pPr>
            <a:r>
              <a:rPr lang="en-US" sz="2400">
                <a:latin typeface="Times New Roman"/>
                <a:ea typeface="Times New Roman"/>
                <a:cs typeface="Times New Roman"/>
                <a:sym typeface="Times New Roman"/>
              </a:rPr>
              <a:t>Dari penelitian ini, dapat disimpulkan bahwa Gradient Boosting dan Random Forest adalah model terbaik untuk tugas klasifikasi ini, dengan Gradient Boosting sedikit lebih unggul. Selain itu, penghapusan fitur dengan kontribusi rendah seperti EstimatedSalary, Tenure, dan HasCrCard dapat meningkatkan efisiensi model tanpa mengorbankan akurasi prediksi.</a:t>
            </a:r>
            <a:endParaRPr sz="2400">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416B"/>
        </a:solidFill>
      </p:bgPr>
    </p:bg>
    <p:spTree>
      <p:nvGrpSpPr>
        <p:cNvPr id="206" name="Shape 206"/>
        <p:cNvGrpSpPr/>
        <p:nvPr/>
      </p:nvGrpSpPr>
      <p:grpSpPr>
        <a:xfrm>
          <a:off x="0" y="0"/>
          <a:ext cx="0" cy="0"/>
          <a:chOff x="0" y="0"/>
          <a:chExt cx="0" cy="0"/>
        </a:xfrm>
      </p:grpSpPr>
      <p:sp>
        <p:nvSpPr>
          <p:cNvPr id="207" name="Google Shape;207;p33"/>
          <p:cNvSpPr txBox="1"/>
          <p:nvPr/>
        </p:nvSpPr>
        <p:spPr>
          <a:xfrm>
            <a:off x="3726441" y="5671502"/>
            <a:ext cx="4739118" cy="3231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500">
                <a:solidFill>
                  <a:srgbClr val="FFFFFF"/>
                </a:solidFill>
                <a:latin typeface="Arial"/>
                <a:ea typeface="Arial"/>
                <a:cs typeface="Arial"/>
                <a:sym typeface="Arial"/>
              </a:rPr>
              <a:t>LOCALLY ROOTED, GLOBALLY RESPECTED</a:t>
            </a:r>
            <a:endParaRPr/>
          </a:p>
        </p:txBody>
      </p:sp>
      <p:sp>
        <p:nvSpPr>
          <p:cNvPr id="208" name="Google Shape;208;p33"/>
          <p:cNvSpPr txBox="1"/>
          <p:nvPr/>
        </p:nvSpPr>
        <p:spPr>
          <a:xfrm>
            <a:off x="5425784" y="5974270"/>
            <a:ext cx="1340431" cy="3231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500">
                <a:solidFill>
                  <a:srgbClr val="FFFFFF"/>
                </a:solidFill>
                <a:latin typeface="Arial"/>
                <a:ea typeface="Arial"/>
                <a:cs typeface="Arial"/>
                <a:sym typeface="Arial"/>
              </a:rPr>
              <a:t>ugm.ac.id</a:t>
            </a:r>
            <a:endParaRPr sz="1500">
              <a:solidFill>
                <a:srgbClr val="FFFFFF"/>
              </a:solidFill>
              <a:latin typeface="Arial"/>
              <a:ea typeface="Arial"/>
              <a:cs typeface="Arial"/>
              <a:sym typeface="Arial"/>
            </a:endParaRPr>
          </a:p>
        </p:txBody>
      </p:sp>
      <p:pic>
        <p:nvPicPr>
          <p:cNvPr id="209" name="Google Shape;209;p33"/>
          <p:cNvPicPr preferRelativeResize="0"/>
          <p:nvPr/>
        </p:nvPicPr>
        <p:blipFill rotWithShape="1">
          <a:blip r:embed="rId3">
            <a:alphaModFix/>
          </a:blip>
          <a:srcRect b="0" l="0" r="0" t="0"/>
          <a:stretch/>
        </p:blipFill>
        <p:spPr>
          <a:xfrm>
            <a:off x="3571812" y="606461"/>
            <a:ext cx="8620188" cy="6251539"/>
          </a:xfrm>
          <a:prstGeom prst="rect">
            <a:avLst/>
          </a:prstGeom>
          <a:noFill/>
          <a:ln>
            <a:noFill/>
          </a:ln>
        </p:spPr>
      </p:pic>
      <p:sp>
        <p:nvSpPr>
          <p:cNvPr id="210" name="Google Shape;210;p33"/>
          <p:cNvSpPr txBox="1"/>
          <p:nvPr/>
        </p:nvSpPr>
        <p:spPr>
          <a:xfrm>
            <a:off x="3122275" y="1127040"/>
            <a:ext cx="5947500" cy="538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2900">
                <a:solidFill>
                  <a:schemeClr val="lt1"/>
                </a:solidFill>
              </a:rPr>
              <a:t>danke schön</a:t>
            </a:r>
            <a:endParaRPr b="1" i="1" sz="2900">
              <a:solidFill>
                <a:schemeClr val="lt1"/>
              </a:solidFill>
            </a:endParaRPr>
          </a:p>
        </p:txBody>
      </p:sp>
      <p:pic>
        <p:nvPicPr>
          <p:cNvPr id="211" name="Google Shape;211;p33"/>
          <p:cNvPicPr preferRelativeResize="0"/>
          <p:nvPr/>
        </p:nvPicPr>
        <p:blipFill rotWithShape="1">
          <a:blip r:embed="rId4">
            <a:alphaModFix/>
          </a:blip>
          <a:srcRect b="0" l="0" r="0" t="0"/>
          <a:stretch/>
        </p:blipFill>
        <p:spPr>
          <a:xfrm>
            <a:off x="4995418" y="2290467"/>
            <a:ext cx="2201163" cy="227706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